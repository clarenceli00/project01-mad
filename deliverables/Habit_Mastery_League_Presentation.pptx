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ae43e4587d4c6f" /><Relationship Type="http://schemas.openxmlformats.org/officeDocument/2006/relationships/extended-properties" Target="/docProps/app.xml" Id="R81db9b45514b4bf4" /><Relationship Type="http://schemas.openxmlformats.org/officeDocument/2006/relationships/officeDocument" Target="/ppt/presentation.xml" Id="R64a7dd2bf554419e" /></Relationships>
</file>

<file path=ppt/presentation.xml><?xml version="1.0" encoding="utf-8"?>
<p:presentation xmlns:p="http://schemas.openxmlformats.org/presentationml/2006/main">
  <p:sldMasterIdLst>
    <p:sldMasterId xmlns:r="http://schemas.openxmlformats.org/officeDocument/2006/relationships" id="2147483648" r:id="Rfc5caee3cb7a4f23"/>
  </p:sldMasterIdLst>
  <p:notesMasterIdLst>
    <p:notesMasterId xmlns:r="http://schemas.openxmlformats.org/officeDocument/2006/relationships" r:id="Rc5b6fc4e33b24fa0"/>
  </p:notesMasterIdLst>
  <p:sldIdLst>
    <p:sldId xmlns:r="http://schemas.openxmlformats.org/officeDocument/2006/relationships" id="256" r:id="R5f1c2336bda94216"/>
    <p:sldId xmlns:r="http://schemas.openxmlformats.org/officeDocument/2006/relationships" id="257" r:id="Rf887d5beb2ec4dc8"/>
    <p:sldId xmlns:r="http://schemas.openxmlformats.org/officeDocument/2006/relationships" id="258" r:id="R4555dd0fca3a457d"/>
    <p:sldId xmlns:r="http://schemas.openxmlformats.org/officeDocument/2006/relationships" id="259" r:id="Re377fc79954c4603"/>
    <p:sldId xmlns:r="http://schemas.openxmlformats.org/officeDocument/2006/relationships" id="260" r:id="R06f27ea687064dc5"/>
    <p:sldId xmlns:r="http://schemas.openxmlformats.org/officeDocument/2006/relationships" id="261" r:id="R6492821820944d8c"/>
    <p:sldId xmlns:r="http://schemas.openxmlformats.org/officeDocument/2006/relationships" id="262" r:id="R97f23fd3484c41f9"/>
    <p:sldId xmlns:r="http://schemas.openxmlformats.org/officeDocument/2006/relationships" id="263" r:id="R7fc677fc5e6e4848"/>
    <p:sldId xmlns:r="http://schemas.openxmlformats.org/officeDocument/2006/relationships" id="264" r:id="Rd14e3e72901c4b29"/>
    <p:sldId xmlns:r="http://schemas.openxmlformats.org/officeDocument/2006/relationships" id="265" r:id="R8a2e72b8c05b4483"/>
    <p:sldId xmlns:r="http://schemas.openxmlformats.org/officeDocument/2006/relationships" id="266" r:id="R39e46cacbb774b8c"/>
    <p:sldId xmlns:r="http://schemas.openxmlformats.org/officeDocument/2006/relationships" id="267" r:id="Rce6ee66791464a1f"/>
    <p:sldId xmlns:r="http://schemas.openxmlformats.org/officeDocument/2006/relationships" id="268" r:id="Rcd6f6e73ae0b42bd"/>
    <p:sldId xmlns:r="http://schemas.openxmlformats.org/officeDocument/2006/relationships" id="269" r:id="Rca7affcac7234b23"/>
    <p:sldId xmlns:r="http://schemas.openxmlformats.org/officeDocument/2006/relationships" id="270" r:id="R12798180bdaa458e"/>
    <p:sldId xmlns:r="http://schemas.openxmlformats.org/officeDocument/2006/relationships" id="271" r:id="R0964f05999c54844"/>
    <p:sldId xmlns:r="http://schemas.openxmlformats.org/officeDocument/2006/relationships" id="272" r:id="Rd445547ec1314ef1"/>
    <p:sldId xmlns:r="http://schemas.openxmlformats.org/officeDocument/2006/relationships" id="273" r:id="Ra3403d3f4b0a4c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d463ea93e04d33" /><Relationship Type="http://schemas.openxmlformats.org/officeDocument/2006/relationships/slideMaster" Target="/ppt/slideMasters/slideMaster1.xml" Id="Rfc5caee3cb7a4f23" /><Relationship Type="http://schemas.openxmlformats.org/officeDocument/2006/relationships/notesMaster" Target="/ppt/notesMasters/notesMaster1.xml" Id="Rc5b6fc4e33b24fa0" /><Relationship Type="http://schemas.openxmlformats.org/officeDocument/2006/relationships/presProps" Target="/ppt/presProps.xml" Id="R98c3488effb24ab9" /><Relationship Type="http://schemas.openxmlformats.org/officeDocument/2006/relationships/tableStyles" Target="/ppt/tableStyles.xml" Id="R24d0c46f159c4431" /><Relationship Type="http://schemas.openxmlformats.org/officeDocument/2006/relationships/slide" Target="/ppt/slides/slide1.xml" Id="R5f1c2336bda94216" /><Relationship Type="http://schemas.openxmlformats.org/officeDocument/2006/relationships/slide" Target="/ppt/slides/slide2.xml" Id="Rf887d5beb2ec4dc8" /><Relationship Type="http://schemas.openxmlformats.org/officeDocument/2006/relationships/slide" Target="/ppt/slides/slide3.xml" Id="R4555dd0fca3a457d" /><Relationship Type="http://schemas.openxmlformats.org/officeDocument/2006/relationships/slide" Target="/ppt/slides/slide4.xml" Id="Re377fc79954c4603" /><Relationship Type="http://schemas.openxmlformats.org/officeDocument/2006/relationships/slide" Target="/ppt/slides/slide5.xml" Id="R06f27ea687064dc5" /><Relationship Type="http://schemas.openxmlformats.org/officeDocument/2006/relationships/slide" Target="/ppt/slides/slide6.xml" Id="R6492821820944d8c" /><Relationship Type="http://schemas.openxmlformats.org/officeDocument/2006/relationships/slide" Target="/ppt/slides/slide7.xml" Id="R97f23fd3484c41f9" /><Relationship Type="http://schemas.openxmlformats.org/officeDocument/2006/relationships/slide" Target="/ppt/slides/slide8.xml" Id="R7fc677fc5e6e4848" /><Relationship Type="http://schemas.openxmlformats.org/officeDocument/2006/relationships/slide" Target="/ppt/slides/slide9.xml" Id="Rd14e3e72901c4b29" /><Relationship Type="http://schemas.openxmlformats.org/officeDocument/2006/relationships/slide" Target="/ppt/slides/slide10.xml" Id="R8a2e72b8c05b4483" /><Relationship Type="http://schemas.openxmlformats.org/officeDocument/2006/relationships/slide" Target="/ppt/slides/slide11.xml" Id="R39e46cacbb774b8c" /><Relationship Type="http://schemas.openxmlformats.org/officeDocument/2006/relationships/slide" Target="/ppt/slides/slide12.xml" Id="Rce6ee66791464a1f" /><Relationship Type="http://schemas.openxmlformats.org/officeDocument/2006/relationships/slide" Target="/ppt/slides/slide13.xml" Id="Rcd6f6e73ae0b42bd" /><Relationship Type="http://schemas.openxmlformats.org/officeDocument/2006/relationships/slide" Target="/ppt/slides/slide14.xml" Id="Rca7affcac7234b23" /><Relationship Type="http://schemas.openxmlformats.org/officeDocument/2006/relationships/slide" Target="/ppt/slides/slide15.xml" Id="R12798180bdaa458e" /><Relationship Type="http://schemas.openxmlformats.org/officeDocument/2006/relationships/slide" Target="/ppt/slides/slide16.xml" Id="R0964f05999c54844" /><Relationship Type="http://schemas.openxmlformats.org/officeDocument/2006/relationships/slide" Target="/ppt/slides/slide17.xml" Id="Rd445547ec1314ef1" /><Relationship Type="http://schemas.openxmlformats.org/officeDocument/2006/relationships/slide" Target="/ppt/slides/slide18.xml" Id="Ra3403d3f4b0a4c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f8613b6ee244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006f7a3dea4555" /><Relationship Type="http://schemas.openxmlformats.org/officeDocument/2006/relationships/notesMaster" Target="/ppt/notesMasters/notesMaster1.xml" Id="R345fb576221f4f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75b05a33304c5e" /><Relationship Type="http://schemas.openxmlformats.org/officeDocument/2006/relationships/notesMaster" Target="/ppt/notesMasters/notesMaster1.xml" Id="Rde1a71d3259b4f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1f43d5b8ec447a" /><Relationship Type="http://schemas.openxmlformats.org/officeDocument/2006/relationships/notesMaster" Target="/ppt/notesMasters/notesMaster1.xml" Id="R33f4931d404442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6c54ddebb34e22" /><Relationship Type="http://schemas.openxmlformats.org/officeDocument/2006/relationships/notesMaster" Target="/ppt/notesMasters/notesMaster1.xml" Id="R1764d10a870b4d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b9c39ac7bf4243" /><Relationship Type="http://schemas.openxmlformats.org/officeDocument/2006/relationships/notesMaster" Target="/ppt/notesMasters/notesMaster1.xml" Id="R34874899480d40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35b37f533f4a61" /><Relationship Type="http://schemas.openxmlformats.org/officeDocument/2006/relationships/notesMaster" Target="/ppt/notesMasters/notesMaster1.xml" Id="R01989390aead42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a8d98a83784a77" /><Relationship Type="http://schemas.openxmlformats.org/officeDocument/2006/relationships/notesMaster" Target="/ppt/notesMasters/notesMaster1.xml" Id="Redf9d1fe491544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34e17a0bcc4533" /><Relationship Type="http://schemas.openxmlformats.org/officeDocument/2006/relationships/notesMaster" Target="/ppt/notesMasters/notesMaster1.xml" Id="Rd9c614c3908847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9f288029114eed" /><Relationship Type="http://schemas.openxmlformats.org/officeDocument/2006/relationships/notesMaster" Target="/ppt/notesMasters/notesMaster1.xml" Id="R8bcc9a51a36f40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f5ab2fe5e3492c" /><Relationship Type="http://schemas.openxmlformats.org/officeDocument/2006/relationships/notesMaster" Target="/ppt/notesMasters/notesMaster1.xml" Id="Rdbeaf88799394a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70951578ab4b12" /><Relationship Type="http://schemas.openxmlformats.org/officeDocument/2006/relationships/notesMaster" Target="/ppt/notesMasters/notesMaster1.xml" Id="R4f33b97d8bd641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00db473e774727" /><Relationship Type="http://schemas.openxmlformats.org/officeDocument/2006/relationships/notesMaster" Target="/ppt/notesMasters/notesMaster1.xml" Id="R94f379319e68450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6c6fedcc97e43c2" /><Relationship Type="http://schemas.openxmlformats.org/officeDocument/2006/relationships/notesMaster" Target="/ppt/notesMasters/notesMaster1.xml" Id="R0d9ac6061c204c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46a0e98c6ea44e3" /><Relationship Type="http://schemas.openxmlformats.org/officeDocument/2006/relationships/notesMaster" Target="/ppt/notesMasters/notesMaster1.xml" Id="R7a621ef98e0f47b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667a5b7cbba4ad1" /><Relationship Type="http://schemas.openxmlformats.org/officeDocument/2006/relationships/notesMaster" Target="/ppt/notesMasters/notesMaster1.xml" Id="R091abb75fc54422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33480881c20437e" /><Relationship Type="http://schemas.openxmlformats.org/officeDocument/2006/relationships/notesMaster" Target="/ppt/notesMasters/notesMaster1.xml" Id="R2dc5c7078de147b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6125a143a1b4632" /><Relationship Type="http://schemas.openxmlformats.org/officeDocument/2006/relationships/notesMaster" Target="/ppt/notesMasters/notesMaster1.xml" Id="Rddee1a6d8a6d42e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151b80f51b47bb" /><Relationship Type="http://schemas.openxmlformats.org/officeDocument/2006/relationships/notesMaster" Target="/ppt/notesMasters/notesMaster1.xml" Id="R0afb67b5975c45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Clarence Li</a:t>
            </a:r>
          </a:p>
          <a:p xmlns:a="http://schemas.openxmlformats.org/drawingml/2006/main">
            <a:r>
              <a:t>TIME: 0:00–0:45 (45 seconds). Total target: 20 minutes including demonstrations.</a:t>
            </a:r>
          </a:p>
          <a:p xmlns:a="http://schemas.openxmlformats.org/drawingml/2006/main">
            <a:r>
              <a:t/>
            </a:r>
          </a:p>
          <a:p xmlns:a="http://schemas.openxmlformats.org/drawingml/2006/main">
            <a:r>
              <a:t>Introduce both presenters: Clarence Li and Seul An Kim. Our team name is Team CS. Explain that this presentation covers the problem, design, implementation, and testing. Clarence presents the UI work he implemented. Seul An presents the data and helper topics and confirms her own contribution. Both members should speak in the recording. Use the slide notes as cues, with live app demonstrations at the indicated sections.</a:t>
            </a:r>
          </a:p>
          <a:p xmlns:a="http://schemas.openxmlformats.org/drawingml/2006/main">
            <a:r>
              <a:t/>
            </a:r>
          </a:p>
          <a:p xmlns:a="http://schemas.openxmlformats.org/drawingml/2006/main">
            <a:r>
              <a:t>SOURCE: Current project source in C:/vscode/MAD/project01/lib; selected questions supplied by the team.</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Clarence Li</a:t>
            </a:r>
          </a:p>
          <a:p xmlns:a="http://schemas.openxmlformats.org/drawingml/2006/main">
            <a:r>
              <a:t>TIME: 0:45–1:45 (60 seconds). Total target: 20 minutes including demonstrations.</a:t>
            </a:r>
          </a:p>
          <a:p xmlns:a="http://schemas.openxmlformats.org/drawingml/2006/main">
            <a:r>
              <a:t/>
            </a:r>
          </a:p>
          <a:p xmlns:a="http://schemas.openxmlformats.org/drawingml/2006/main">
            <a:r>
              <a:t>People need a convenient way to record habits and see weekly consistency. Explain how the app turns a weekly goal into visible plant progress. Inputs include the habit title, category, target, start date, motivation, and dated check-ins. Outputs include the habit catalog, current progress, history, validation feedback, and a suggested target. The implementation stores records locally. Emphasize that no account or cloud connection is required by the data design. Show the opening garden screen while describing the intended user.</a:t>
            </a:r>
          </a:p>
          <a:p xmlns:a="http://schemas.openxmlformats.org/drawingml/2006/main">
            <a:r>
              <a:t/>
            </a:r>
          </a:p>
          <a:p xmlns:a="http://schemas.openxmlformats.org/drawingml/2006/main">
            <a:r>
              <a:t>SOURCE: Current project source in C:/vscode/MAD/project01/lib; selected questions supplied by the team.</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Clarence Li</a:t>
            </a:r>
          </a:p>
          <a:p xmlns:a="http://schemas.openxmlformats.org/drawingml/2006/main">
            <a:r>
              <a:t>TIME: 1:45–2:45 (60 seconds). Total target: 20 minutes including demonstrations.</a:t>
            </a:r>
          </a:p>
          <a:p xmlns:a="http://schemas.openxmlformats.org/drawingml/2006/main">
            <a:r>
              <a:t/>
            </a:r>
          </a:p>
          <a:p xmlns:a="http://schemas.openxmlformats.org/drawingml/2006/main">
            <a:r>
              <a:t>Demonstrate the five-screen workflow. Begin in Garden, open the editor to create a habit, then open its detail screen. Visit check-in history and finally settings. Editor and detail use Navigator routes while Garden, History, and Settings are tabs. Explain that IndexedStack retains the tab subtrees and selected tab state. For a gesture, show slider dragging or list scrolling, and explain how it interacts with the current screen. Return using back navigation and point out what context remains. This covers the supplied I3 question as supplemental coverage.</a:t>
            </a:r>
          </a:p>
          <a:p xmlns:a="http://schemas.openxmlformats.org/drawingml/2006/main">
            <a:r>
              <a:t/>
            </a:r>
          </a:p>
          <a:p xmlns:a="http://schemas.openxmlformats.org/drawingml/2006/main">
            <a:r>
              <a:t>SOURCE: Current project source in C:/vscode/MAD/project01/lib; selected questions supplied by the team.</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Clarence Li</a:t>
            </a:r>
          </a:p>
          <a:p xmlns:a="http://schemas.openxmlformats.org/drawingml/2006/main">
            <a:r>
              <a:t>TIME: 2:45–4:00 (75 seconds). Total target: 20 minutes including demonstrations.</a:t>
            </a:r>
          </a:p>
          <a:p xmlns:a="http://schemas.openxmlformats.org/drawingml/2006/main">
            <a:r>
              <a:t/>
            </a:r>
          </a:p>
          <a:p xmlns:a="http://schemas.openxmlformats.org/drawingml/2006/main">
            <a:r>
              <a:t>Explain that this is a simplified class diagram derived from the current Dart code. Habit contains the target and cycle information. CheckIn contains a parent identifier, date, and note. One Habit can have zero or more CheckIn records and each persisted CheckIn references one Habit. DatabaseHelper supplies persistence operations for both entities. GardenGuide takes a habit and its history to produce a GardenGuideResult. SQLite enforces the relationship and cascades child deletion. Widget State companion classes are omitted here for readability; the next slides explain UI ownership.</a:t>
            </a:r>
          </a:p>
          <a:p xmlns:a="http://schemas.openxmlformats.org/drawingml/2006/main">
            <a:r>
              <a:t/>
            </a:r>
          </a:p>
          <a:p xmlns:a="http://schemas.openxmlformats.org/drawingml/2006/main">
            <a:r>
              <a:t>SOURCE: lib/models.dart; lib/database_helper.dart; lib/garden_guide.dart</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Clarence Li</a:t>
            </a:r>
          </a:p>
          <a:p xmlns:a="http://schemas.openxmlformats.org/drawingml/2006/main">
            <a:r>
              <a:t>TIME: 4:00–5:15 (75 seconds). Total target: 20 minutes including demonstrations.</a:t>
            </a:r>
          </a:p>
          <a:p xmlns:a="http://schemas.openxmlformats.org/drawingml/2006/main">
            <a:r>
              <a:t/>
            </a:r>
          </a:p>
          <a:p xmlns:a="http://schemas.openxmlformats.org/drawingml/2006/main">
            <a:r>
              <a:t>Use I1 to explain a reusable StatelessWidget and a StatefulWidget. HabitTile receives values and callbacks, and build renders the current title, category, and progress. It owns no mutable application state. HabitGardenTabs owns the selected index and shared in-memory lists. A tab tap calls setState and Flutter builds the current selected view. CheckInForm is another StatefulWidget because the chosen date, saving flag, error message, and text input change. Show these classes in the source briefly and identify which component owns each value.</a:t>
            </a:r>
          </a:p>
          <a:p xmlns:a="http://schemas.openxmlformats.org/drawingml/2006/main">
            <a:r>
              <a:t/>
            </a:r>
          </a:p>
          <a:p xmlns:a="http://schemas.openxmlformats.org/drawingml/2006/main">
            <a:r>
              <a:t>SOURCE: lib/screens/screens.dart</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Clarence Li</a:t>
            </a:r>
          </a:p>
          <a:p xmlns:a="http://schemas.openxmlformats.org/drawingml/2006/main">
            <a:r>
              <a:t>TIME: 5:15–6:30 (75 seconds). Total target: 20 minutes including demonstrations.</a:t>
            </a:r>
          </a:p>
          <a:p xmlns:a="http://schemas.openxmlformats.org/drawingml/2006/main">
            <a:r>
              <a:t/>
            </a:r>
          </a:p>
          <a:p xmlns:a="http://schemas.openxmlformats.org/drawingml/2006/main">
            <a:r>
              <a:t>Trace I2 with the weekly target slider. Flutter sends a double value to onChanged. setState changes the transient target and renders its label immediately. The min, max, and divisions restrict the control to seven choices. Saving rounds to an integer and builds a Habit. The database helper validates the persisted record. Contrast temporary values such as the chosen tab and error message with saved values such as the target, title, and check-ins. Demonstrate dragging the slider and attempting to save a blank title, then saving a valid habit.</a:t>
            </a:r>
          </a:p>
          <a:p xmlns:a="http://schemas.openxmlformats.org/drawingml/2006/main">
            <a:r>
              <a:t/>
            </a:r>
          </a:p>
          <a:p xmlns:a="http://schemas.openxmlformats.org/drawingml/2006/main">
            <a:r>
              <a:t>SOURCE: lib/screens/habit_editor_screen.dart; lib/database_helper.dart</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Clarence Li</a:t>
            </a:r>
          </a:p>
          <a:p xmlns:a="http://schemas.openxmlformats.org/drawingml/2006/main">
            <a:r>
              <a:t>TIME: 6:30–7:30 (60 seconds). Total target: 20 minutes including demonstrations.</a:t>
            </a:r>
          </a:p>
          <a:p xmlns:a="http://schemas.openxmlformats.org/drawingml/2006/main">
            <a:r>
              <a:t/>
            </a:r>
          </a:p>
          <a:p xmlns:a="http://schemas.openxmlformats.org/drawingml/2006/main">
            <a:r>
              <a:t>Cover A2 and A3. The editor State owns its text controllers and disposes them when the screen leaves the tree. Async UI code checks mounted after waiting before using state or context. That prevents UI updates after disposal; it does not cancel a database operation. Explain the chosen setState approach: small scope, direct callbacks, parent refreshes after successful writes. Loading uses a spinner, errors use feedback, and successful writes trigger reloads. Provider is an alternative that could centralize ownership as the app grows, but this undergraduate app currently uses setState.</a:t>
            </a:r>
          </a:p>
          <a:p xmlns:a="http://schemas.openxmlformats.org/drawingml/2006/main">
            <a:r>
              <a:t/>
            </a:r>
          </a:p>
          <a:p xmlns:a="http://schemas.openxmlformats.org/drawingml/2006/main">
            <a:r>
              <a:t>SOURCE: lib/screens/habit_editor_screen.dart; lib/screens/screens.dart</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Seul An Kim</a:t>
            </a:r>
          </a:p>
          <a:p xmlns:a="http://schemas.openxmlformats.org/drawingml/2006/main">
            <a:r>
              <a:t>TIME: 7:30–8:45 (75 seconds). Total target: 20 minutes including demonstrations.</a:t>
            </a:r>
          </a:p>
          <a:p xmlns:a="http://schemas.openxmlformats.org/drawingml/2006/main">
            <a:r>
              <a:t/>
            </a:r>
          </a:p>
          <a:p xmlns:a="http://schemas.openxmlformats.org/drawingml/2006/main">
            <a:r>
              <a:t>Explain D1 by tracing both entities. Habit insert, query, update, and delete operate on the habits table. Check-in insert, query, update, and delete operate on check_ins. The helper validates input before writes, including duplicate-date checks for check-ins. UI deletion asks for confirmation and successful writes lead to refreshed lists. Demonstrate creating and editing a habit and a check-in. Explain that removing a parent habit deletes its linked child records because foreign keys are enabled and the schema specifies ON DELETE CASCADE. Do not claim the complete acceptance suite passed unless it has been executed.</a:t>
            </a:r>
          </a:p>
          <a:p xmlns:a="http://schemas.openxmlformats.org/drawingml/2006/main">
            <a:r>
              <a:t/>
            </a:r>
          </a:p>
          <a:p xmlns:a="http://schemas.openxmlformats.org/drawingml/2006/main">
            <a:r>
              <a:t>SOURCE: lib/database_helper.dart</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Seul An Kim</a:t>
            </a:r>
          </a:p>
          <a:p xmlns:a="http://schemas.openxmlformats.org/drawingml/2006/main">
            <a:r>
              <a:t>TIME: 8:45–10:00 (75 seconds). Total target: 20 minutes including demonstrations.</a:t>
            </a:r>
          </a:p>
          <a:p xmlns:a="http://schemas.openxmlformats.org/drawingml/2006/main">
            <a:r>
              <a:t/>
            </a:r>
          </a:p>
          <a:p xmlns:a="http://schemas.openxmlformats.org/drawingml/2006/main">
            <a:r>
              <a:t>Cover D2. SQLite holds relational habit and check-in data, while SharedPreferences stores small settings: default_target and reduced_motion. Describe the intended proof: disable network access, save records and a preference, fully close and relaunch, then inspect restored values. This is a required demonstration that has not been performed for this deck. GitHub stores development source, ClickUp would track project tasks, and YouTube can host a recording; those services are not used by the shown data layer as app backends. Mention the default-target integration defect on the later bug slide.</a:t>
            </a:r>
          </a:p>
          <a:p xmlns:a="http://schemas.openxmlformats.org/drawingml/2006/main">
            <a:r>
              <a:t/>
            </a:r>
          </a:p>
          <a:p xmlns:a="http://schemas.openxmlformats.org/drawingml/2006/main">
            <a:r>
              <a:t>SOURCE: lib/database_helper.dart; lib/settings_helper.dart</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Seul An Kim</a:t>
            </a:r>
          </a:p>
          <a:p xmlns:a="http://schemas.openxmlformats.org/drawingml/2006/main">
            <a:r>
              <a:t>TIME: 10:00–11:00 (60 seconds). Total target: 20 minutes including demonstrations.</a:t>
            </a:r>
          </a:p>
          <a:p xmlns:a="http://schemas.openxmlformats.org/drawingml/2006/main">
            <a:r>
              <a:t/>
            </a:r>
          </a:p>
          <a:p xmlns:a="http://schemas.openxmlformats.org/drawingml/2006/main">
            <a:r>
              <a:t>Walk through this pseudocode as an overview, rather than reading every line. UI validation gives immediate feedback. The persistence layer looks up the parent habit, validates the date, rejects duplicates, and writes within a transaction. A successful return closes the form and refreshes affected screens. Explain how invalid input exits without saving. Then show one duplicate-date attempt in the app if time permits. Make clear that the pseudocode summarizes behavior spread across CheckInForm, openCheckInForm, and DatabaseHelper.insertCheckIn.</a:t>
            </a:r>
          </a:p>
          <a:p xmlns:a="http://schemas.openxmlformats.org/drawingml/2006/main">
            <a:r>
              <a:t/>
            </a:r>
          </a:p>
          <a:p xmlns:a="http://schemas.openxmlformats.org/drawingml/2006/main">
            <a:r>
              <a:t>SOURCE: lib/screens/screens.dart; lib/database_helper.dart</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Seul An Kim</a:t>
            </a:r>
          </a:p>
          <a:p xmlns:a="http://schemas.openxmlformats.org/drawingml/2006/main">
            <a:r>
              <a:t>TIME: 11:00–12:15 (75 seconds). Total target: 20 minutes including demonstrations.</a:t>
            </a:r>
          </a:p>
          <a:p xmlns:a="http://schemas.openxmlformats.org/drawingml/2006/main">
            <a:r>
              <a:t/>
            </a:r>
          </a:p>
          <a:p xmlns:a="http://schemas.openxmlformats.org/drawingml/2006/main">
            <a:r>
              <a:t>Explain the three persisted cycle states. startWeek allows Ready to Active and finishWeek allows Active to Finished. resetWeek returns the status to Ready while preserving saved check-ins. For a new calendar week, getCycleStatus reports Ready when the saved week differs from the current Monday. Numeric progress can exceed one hundred percent while the plant fill clamps at full. Finishing is a workflow action and the current helper does not require the target to have been met. For T5, test transitions with controlled database responses and inspect saved status rather than waiting arbitrary seconds. Full transition and disposal integration tests remain pending.</a:t>
            </a:r>
          </a:p>
          <a:p xmlns:a="http://schemas.openxmlformats.org/drawingml/2006/main">
            <a:r>
              <a:t/>
            </a:r>
          </a:p>
          <a:p xmlns:a="http://schemas.openxmlformats.org/drawingml/2006/main">
            <a:r>
              <a:t>SOURCE: lib/database_helper.dart; lib/screens/habit_detail_screen.dart; lib/garden_guide.dart</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Seul An Kim</a:t>
            </a:r>
          </a:p>
          <a:p xmlns:a="http://schemas.openxmlformats.org/drawingml/2006/main">
            <a:r>
              <a:t>TIME: 12:15–13:30 (75 seconds). Total target: 20 minutes including demonstrations.</a:t>
            </a:r>
          </a:p>
          <a:p xmlns:a="http://schemas.openxmlformats.org/drawingml/2006/main">
            <a:r>
              <a:t/>
            </a:r>
          </a:p>
          <a:p xmlns:a="http://schemas.openxmlformats.org/drawingml/2006/main">
            <a:r>
              <a:t>Demonstrate R4. Garden Guide uses the previous three eligible completed weeks of check-ins. Partial starting weeks are excluded. It counts distinct days per week and rounds the mean to produce a target between one and seven. This is an explicit rule, not a trained machine-learning model. The history screen explains the three-week basis and offers Apply, which opens the editor. The user can override the target before saving. Show insufficient-history feedback for a new habit, then explain the valid-history path with controlled examples.</a:t>
            </a:r>
          </a:p>
          <a:p xmlns:a="http://schemas.openxmlformats.org/drawingml/2006/main">
            <a:r>
              <a:t/>
            </a:r>
          </a:p>
          <a:p xmlns:a="http://schemas.openxmlformats.org/drawingml/2006/main">
            <a:r>
              <a:t>SOURCE: lib/garden_guide.dart; lib/screens/history_screen.dart</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Seul An Kim</a:t>
            </a:r>
          </a:p>
          <a:p xmlns:a="http://schemas.openxmlformats.org/drawingml/2006/main">
            <a:r>
              <a:t>TIME: 13:30–14:30 (60 seconds). Total target: 20 minutes including demonstrations.</a:t>
            </a:r>
          </a:p>
          <a:p xmlns:a="http://schemas.openxmlformats.org/drawingml/2006/main">
            <a:r>
              <a:t/>
            </a:r>
          </a:p>
          <a:p xmlns:a="http://schemas.openxmlformats.org/drawingml/2006/main">
            <a:r>
              <a:t>Present at least five case types for undergraduate R4: stable, all-zero, variable, insufficient history, and invalid history. High history is an extra case. Four fours suggest four. Three zeros suggest one because the minimum target is one. One, four, seven averages to four but hides the upward trend. Compare the rule with a baseline that keeps the existing target. With a saved target of four and three sevens, the guide recommends seven while the baseline stays four. This comparison is illustrative and does not establish predictive accuracy. Retain the limitation: an average does not model trend, illness, or changing circumstances, so override matters.</a:t>
            </a:r>
          </a:p>
          <a:p xmlns:a="http://schemas.openxmlformats.org/drawingml/2006/main">
            <a:r>
              <a:t/>
            </a:r>
          </a:p>
          <a:p xmlns:a="http://schemas.openxmlformats.org/drawingml/2006/main">
            <a:r>
              <a:t>SOURCE: lib/garden_guide.dart; .presentation-build/logic_checks.dart</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Clarence Li</a:t>
            </a:r>
          </a:p>
          <a:p xmlns:a="http://schemas.openxmlformats.org/drawingml/2006/main">
            <a:r>
              <a:t>TIME: 14:30–15:45 (75 seconds). Total target: 20 minutes including demonstrations.</a:t>
            </a:r>
          </a:p>
          <a:p xmlns:a="http://schemas.openxmlformats.org/drawingml/2006/main">
            <a:r>
              <a:t/>
            </a:r>
          </a:p>
          <a:p xmlns:a="http://schemas.openxmlformats.org/drawingml/2006/main">
            <a:r>
              <a:t>Explain T1 as a planned acceptance matrix. Each scenario needs an ID, environment, input, expected result, observed result, and pass/fail status. Cover both entities through create, read, update, and delete. Use ordinary valid records, an empty garden, invalid blank titles, targets outside one to seven, duplicate dates, future dates, and dates before a habit begins. Repeat the main five-screen flow on two devices or emulators. Check settings persistence and offline relaunch. These manual acceptance cases are pending and should be executed before recording any claims of success. Clarence can demonstrate the UI paths while Seul An describes expected database behavior.</a:t>
            </a:r>
          </a:p>
          <a:p xmlns:a="http://schemas.openxmlformats.org/drawingml/2006/main">
            <a:r>
              <a:t/>
            </a:r>
          </a:p>
          <a:p xmlns:a="http://schemas.openxmlformats.org/drawingml/2006/main">
            <a:r>
              <a:t>SOURCE: Selected questions T1 and D1–D2; validation rules in lib/database_helper.dart</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Seul An Kim</a:t>
            </a:r>
          </a:p>
          <a:p xmlns:a="http://schemas.openxmlformats.org/drawingml/2006/main">
            <a:r>
              <a:t>TIME: 15:45–17:00 (75 seconds). Total target: 20 minutes including demonstrations.</a:t>
            </a:r>
          </a:p>
          <a:p xmlns:a="http://schemas.openxmlformats.org/drawingml/2006/main">
            <a:r>
              <a:t/>
            </a:r>
          </a:p>
          <a:p xmlns:a="http://schemas.openxmlformats.org/drawingml/2006/main">
            <a:r>
              <a:t>Report only the executed scope. Eleven direct Dart checks passed against the current model and helper code. The checks used a fixed reference date of October 31, 2026. They cover Monday calculation, duplicate-day counting, isolation by habit, four target examples, invalid counts, insufficient history, future history, progress clamping, and a Habit map round trip. These are lightweight logic checks, not Flutter widget tests, database integration tests, or acceptance tests on devices. Show the check output if useful. The source script is retained in the private presentation build folder so the results can be reproduced.</a:t>
            </a:r>
          </a:p>
          <a:p xmlns:a="http://schemas.openxmlformats.org/drawingml/2006/main">
            <a:r>
              <a:t/>
            </a:r>
          </a:p>
          <a:p xmlns:a="http://schemas.openxmlformats.org/drawingml/2006/main">
            <a:r>
              <a:t>SOURCE: .presentation-build/logic_checks.dart, executed with Dart; 11/11 checks passed</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Clarence Li</a:t>
            </a:r>
          </a:p>
          <a:p xmlns:a="http://schemas.openxmlformats.org/drawingml/2006/main">
            <a:r>
              <a:t>TIME: 17:00–18:00 (60 seconds). Total target: 20 minutes including demonstrations.</a:t>
            </a:r>
          </a:p>
          <a:p xmlns:a="http://schemas.openxmlformats.org/drawingml/2006/main">
            <a:r>
              <a:t/>
            </a:r>
          </a:p>
          <a:p xmlns:a="http://schemas.openxmlformats.org/drawingml/2006/main">
            <a:r>
              <a:t>Use BUG-01 as a real code-review finding. The settings helper saves default_target, but HabitEditorScreen initializes _weeklyTarget to four and does not read SettingsHelper. The reproduction is to save a default of six, then open a new habit editor. The expected target is six; code inspection indicates that the current initial target remains four. Runtime reproduction and retest are still pending, so do not call this a confirmed device result. Track the issue with severity, steps, expected and observed behavior, owner, commit reference, and retest evidence. A proposed fix reads the saved default for new habits while preserving existing-habit values and explicit helper suggestions.</a:t>
            </a:r>
          </a:p>
          <a:p xmlns:a="http://schemas.openxmlformats.org/drawingml/2006/main">
            <a:r>
              <a:t/>
            </a:r>
          </a:p>
          <a:p xmlns:a="http://schemas.openxmlformats.org/drawingml/2006/main">
            <a:r>
              <a:t>SOURCE: lib/settings_helper.dart; lib/screens/habit_editor_screen.dart</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Both presenters</a:t>
            </a:r>
          </a:p>
          <a:p xmlns:a="http://schemas.openxmlformats.org/drawingml/2006/main">
            <a:r>
              <a:t>TIME: 18:00–19:00 (60 seconds). Total target: 20 minutes including demonstrations.</a:t>
            </a:r>
          </a:p>
          <a:p xmlns:a="http://schemas.openxmlformats.org/drawingml/2006/main">
            <a:r>
              <a:t/>
            </a:r>
          </a:p>
          <a:p xmlns:a="http://schemas.openxmlformats.org/drawingml/2006/main">
            <a:r>
              <a:t>Cover R1 without inventing contributions. Clarence should explain the UI, screens, widgets, and navigation he implemented. Seul An should identify the exact implementation she contributed and explain it in her own words. The current git history includes a SeulAn branch merge and commits related to the check-in form and saving behavior. Show the repository evidence briefly and use a meaningful commit diff rather than relying only on names. A merge establishes integration, not necessarily a substantive review. Explain the actual review process if one occurred; otherwise label review evidence as incomplete and perform a real walkthrough before recording.</a:t>
            </a:r>
          </a:p>
          <a:p xmlns:a="http://schemas.openxmlformats.org/drawingml/2006/main">
            <a:r>
              <a:t/>
            </a:r>
          </a:p>
          <a:p xmlns:a="http://schemas.openxmlformats.org/drawingml/2006/main">
            <a:r>
              <a:t>SOURCE: User-confirmed Clarence UI ownership; git log, including merge 7344fcd and check-in-related Seul An Kim commits</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Both presenters</a:t>
            </a:r>
          </a:p>
          <a:p xmlns:a="http://schemas.openxmlformats.org/drawingml/2006/main">
            <a:r>
              <a:t>TIME: 19:00–20:00 (60 seconds). Total target: 20 minutes including demonstrations.</a:t>
            </a:r>
          </a:p>
          <a:p xmlns:a="http://schemas.openxmlformats.org/drawingml/2006/main">
            <a:r>
              <a:t/>
            </a:r>
          </a:p>
          <a:p xmlns:a="http://schemas.openxmlformats.org/drawingml/2006/main">
            <a:r>
              <a:t>Close with a short joint demonstration and a candid statement of the current evidence. Clarence shows the user flow and Seul An explains persistence or the helper result. Summarize that the app implements a local habit-tracking design and that eleven isolated logic checks passed. Device acceptance, offline relaunch, and lifecycle/transition integration tests are still pending. The saved-default bug is open. Before submission, update statuses only after the corresponding work is actually completed. For presentation effects, this deck uses fade transitions and a click-to-appear emphasis. Transforms are represented by native positioned and sized objects; if the instructor intends PowerPoint Morph specifically, clarify that expectation rather than claiming Morph is present.</a:t>
            </a:r>
          </a:p>
          <a:p xmlns:a="http://schemas.openxmlformats.org/drawingml/2006/main">
            <a:r>
              <a:t/>
            </a:r>
          </a:p>
          <a:p xmlns:a="http://schemas.openxmlformats.org/drawingml/2006/main">
            <a:r>
              <a:t>SOURCE: Current project source in C:/vscode/MAD/project01/lib; selected questions supplied by the team.</a:t>
            </a:r>
          </a:p>
          <a:p xmlns:a="http://schemas.openxmlformats.org/drawingml/2006/main">
            <a:r>
              <a:t/>
            </a:r>
          </a:p>
          <a:p xmlns:a="http://schemas.openxmlformats.org/drawingml/2006/main">
            <a:r>
              <a:t>Recording guidance: demonstrate only observed results. Pending cases remain pending until executed. Presenter allocation for Seul An is a proposed topic assignment; verify contribution claims before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048efb70e445a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87cbfd46ec49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a69a55c3934f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d0189ba2dc456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38a66c65da4c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82400944c9b48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3CB5B2-D037-4D59-A0B9-9110A4278BA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633E326-D99E-4B99-B572-5000D10EF52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98BC63A-2DF7-41A0-A7CD-B757E3EBD25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38E4E0-B942-404D-9ED3-933F280FC6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758D04A-5E7C-401F-9361-C3064010FDF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EA200C-142F-444B-A218-24301BFD98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43920C-410C-4E89-BCCA-3CAE8371E00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08E4DD5-1A05-4BC1-8F57-A7740F6C1AC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F048CC-A1C8-44F6-BFAC-23773B9333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4383F7-53D1-49BB-A190-3C1972910C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db886eb32a48a0" /><Relationship Type="http://schemas.openxmlformats.org/officeDocument/2006/relationships/slideLayout" Target="/ppt/slideLayouts/slideLayout1.xml" Id="Rc21f5ea0de554c31" /><Relationship Type="http://schemas.openxmlformats.org/officeDocument/2006/relationships/slideLayout" Target="/ppt/slideLayouts/slideLayout2.xml" Id="R878b453509804d30" /><Relationship Type="http://schemas.openxmlformats.org/officeDocument/2006/relationships/slideLayout" Target="/ppt/slideLayouts/slideLayout3.xml" Id="R78c071b5fb5c4aad" /><Relationship Type="http://schemas.openxmlformats.org/officeDocument/2006/relationships/slideLayout" Target="/ppt/slideLayouts/slideLayout4.xml" Id="Ra1843cae8aa8499e" /><Relationship Type="http://schemas.openxmlformats.org/officeDocument/2006/relationships/slideLayout" Target="/ppt/slideLayouts/slideLayout5.xml" Id="R8dd3102f854b4973" /><Relationship Type="http://schemas.openxmlformats.org/officeDocument/2006/relationships/slideLayout" Target="/ppt/slideLayouts/slideLayout6.xml" Id="R14f0c9296b1f40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1f5ea0de554c31"/>
    <p:sldLayoutId xmlns:r="http://schemas.openxmlformats.org/officeDocument/2006/relationships" id="2147483650" r:id="R878b453509804d30"/>
    <p:sldLayoutId xmlns:r="http://schemas.openxmlformats.org/officeDocument/2006/relationships" id="2147483651" r:id="R78c071b5fb5c4aad"/>
    <p:sldLayoutId xmlns:r="http://schemas.openxmlformats.org/officeDocument/2006/relationships" id="2147483652" r:id="Ra1843cae8aa8499e"/>
    <p:sldLayoutId xmlns:r="http://schemas.openxmlformats.org/officeDocument/2006/relationships" id="2147483653" r:id="R8dd3102f854b4973"/>
    <p:sldLayoutId xmlns:r="http://schemas.openxmlformats.org/officeDocument/2006/relationships" id="2147483654" r:id="R14f0c9296b1f40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d56ef663f743d0" /><Relationship Type="http://schemas.openxmlformats.org/officeDocument/2006/relationships/notesSlide" Target="/ppt/notesSlides/notesSlide1.xml" Id="R7863179c5dba45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b915e2fac740d4" /><Relationship Type="http://schemas.openxmlformats.org/officeDocument/2006/relationships/notesSlide" Target="/ppt/notesSlides/notesSlide2.xml" Id="Rc5be434b90f94e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94a7919b1c14fdc" /><Relationship Type="http://schemas.openxmlformats.org/officeDocument/2006/relationships/notesSlide" Target="/ppt/notesSlides/notesSlide3.xml" Id="R77c0b8767abc4a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a24fdfacd794a03" /><Relationship Type="http://schemas.openxmlformats.org/officeDocument/2006/relationships/notesSlide" Target="/ppt/notesSlides/notesSlide4.xml" Id="Re0813d45103840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8409bba32a64c8f" /><Relationship Type="http://schemas.openxmlformats.org/officeDocument/2006/relationships/notesSlide" Target="/ppt/notesSlides/notesSlide5.xml" Id="Ref56804b67bc44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aa70195242643f0" /><Relationship Type="http://schemas.openxmlformats.org/officeDocument/2006/relationships/notesSlide" Target="/ppt/notesSlides/notesSlide6.xml" Id="Rf5733667fd0c40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6d0706a22c64441" /><Relationship Type="http://schemas.openxmlformats.org/officeDocument/2006/relationships/notesSlide" Target="/ppt/notesSlides/notesSlide7.xml" Id="Rfb4f6a0947954f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3c348c746cc4b13" /><Relationship Type="http://schemas.openxmlformats.org/officeDocument/2006/relationships/notesSlide" Target="/ppt/notesSlides/notesSlide8.xml" Id="R1230ab40e0c74d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ec640527f5e402c" /><Relationship Type="http://schemas.openxmlformats.org/officeDocument/2006/relationships/notesSlide" Target="/ppt/notesSlides/notesSlide9.xml" Id="R427eaa1400594a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aeab29912ed44bf" /><Relationship Type="http://schemas.openxmlformats.org/officeDocument/2006/relationships/notesSlide" Target="/ppt/notesSlides/notesSlide10.xml" Id="R52f52b0e55c94de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0a2912f0acb4159" /><Relationship Type="http://schemas.openxmlformats.org/officeDocument/2006/relationships/notesSlide" Target="/ppt/notesSlides/notesSlide11.xml" Id="Red2480cd680c461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6300c09ab314072" /><Relationship Type="http://schemas.openxmlformats.org/officeDocument/2006/relationships/notesSlide" Target="/ppt/notesSlides/notesSlide12.xml" Id="R9eebdf7829174f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caf81b05ab949bd" /><Relationship Type="http://schemas.openxmlformats.org/officeDocument/2006/relationships/notesSlide" Target="/ppt/notesSlides/notesSlide13.xml" Id="R6ba9f9a4957b48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6450d9854dd4bb0" /><Relationship Type="http://schemas.openxmlformats.org/officeDocument/2006/relationships/notesSlide" Target="/ppt/notesSlides/notesSlide14.xml" Id="R00d2af8bf36d40a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2cb1cd891184bf9" /><Relationship Type="http://schemas.openxmlformats.org/officeDocument/2006/relationships/notesSlide" Target="/ppt/notesSlides/notesSlide15.xml" Id="Rd8f422f687d54f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7c5ca4dc99f482d" /><Relationship Type="http://schemas.openxmlformats.org/officeDocument/2006/relationships/notesSlide" Target="/ppt/notesSlides/notesSlide16.xml" Id="R3bb2fca5f9f94ca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2500b26b6d74d04" /><Relationship Type="http://schemas.openxmlformats.org/officeDocument/2006/relationships/notesSlide" Target="/ppt/notesSlides/notesSlide17.xml" Id="R2d6dd95f0b6c49c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756ea3b3fc44c3f" /><Relationship Type="http://schemas.openxmlformats.org/officeDocument/2006/relationships/notesSlide" Target="/ppt/notesSlides/notesSlide18.xml" Id="Rc747a1a0c80c418e" /></Relationships>
</file>

<file path=ppt/slides/slide1.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879895-48FC-4085-B577-5DA4EA9A35FF}"/>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Habit Mastery League</a:t>
            </a:r>
          </a:p>
        </p:txBody>
      </p:sp>
      <p:sp>
        <p:nvSpPr>
          <p:cNvPr id="2" name="">
            <a:extLst xmlns:a="http://schemas.openxmlformats.org/drawingml/2006/main">
              <a:ext uri="{FF2B5EF4-FFF2-40B4-BE49-F238E27FC236}">
                <a16:creationId xmlns:a16="http://schemas.microsoft.com/office/drawing/2014/main" id="{0FFF62F5-BBC8-48D4-A863-6B354DE9C7CC}"/>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5183CD8E-8A8D-4E99-9ABF-429EC4D2A02C}"/>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3CE27F7-CD29-4403-9B3F-4B7996862B94}"/>
              </a:ext>
            </a:extLst>
          </p:cNvPr>
          <p:cNvSpPr>
            <a:spLocks xmlns:a="http://schemas.openxmlformats.org/drawingml/2006/main" noGrp="1"/>
          </p:cNvSpPr>
          <p:nvPr/>
        </p:nvSpPr>
        <p:spPr>
          <a:xfrm xmlns:a="http://schemas.openxmlformats.org/drawingml/2006/main">
            <a:off x="685800" y="2143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286A4B"/>
                </a:solidFill>
                <a:latin typeface="Arial"/>
                <a:ea typeface="Arial"/>
                <a:cs typeface="Arial"/>
              </a:defRPr>
            </a:defPPr>
            <a:lvl1pPr>
              <a:defRPr sz="3300" b="0">
                <a:solidFill>
                  <a:srgbClr val="286A4B"/>
                </a:solidFill>
                <a:latin typeface="Arial"/>
                <a:ea typeface="Arial"/>
                <a:cs typeface="Arial"/>
              </a:defRPr>
            </a:lvl1pPr>
            <a:lvl2pPr>
              <a:defRPr sz="3300" b="0">
                <a:solidFill>
                  <a:srgbClr val="286A4B"/>
                </a:solidFill>
                <a:latin typeface="Arial"/>
                <a:ea typeface="Arial"/>
                <a:cs typeface="Arial"/>
              </a:defRPr>
            </a:lvl2pPr>
            <a:lvl3pPr>
              <a:defRPr sz="3300" b="0">
                <a:solidFill>
                  <a:srgbClr val="286A4B"/>
                </a:solidFill>
                <a:latin typeface="Arial"/>
                <a:ea typeface="Arial"/>
                <a:cs typeface="Arial"/>
              </a:defRPr>
            </a:lvl3pPr>
            <a:lvl4pPr>
              <a:defRPr sz="3300" b="0">
                <a:solidFill>
                  <a:srgbClr val="286A4B"/>
                </a:solidFill>
                <a:latin typeface="Arial"/>
                <a:ea typeface="Arial"/>
                <a:cs typeface="Arial"/>
              </a:defRPr>
            </a:lvl4pPr>
            <a:lvl5pPr>
              <a:defRPr sz="3300" b="0">
                <a:solidFill>
                  <a:srgbClr val="286A4B"/>
                </a:solidFill>
                <a:latin typeface="Arial"/>
                <a:ea typeface="Arial"/>
                <a:cs typeface="Arial"/>
              </a:defRPr>
            </a:lvl5pPr>
            <a:lvl6pPr>
              <a:defRPr sz="3300" b="0">
                <a:solidFill>
                  <a:srgbClr val="286A4B"/>
                </a:solidFill>
                <a:latin typeface="Arial"/>
                <a:ea typeface="Arial"/>
                <a:cs typeface="Arial"/>
              </a:defRPr>
            </a:lvl6pPr>
            <a:lvl7pPr>
              <a:defRPr sz="3300" b="0">
                <a:solidFill>
                  <a:srgbClr val="286A4B"/>
                </a:solidFill>
                <a:latin typeface="Arial"/>
                <a:ea typeface="Arial"/>
                <a:cs typeface="Arial"/>
              </a:defRPr>
            </a:lvl7pPr>
            <a:lvl8pPr>
              <a:defRPr sz="3300" b="0">
                <a:solidFill>
                  <a:srgbClr val="286A4B"/>
                </a:solidFill>
                <a:latin typeface="Arial"/>
                <a:ea typeface="Arial"/>
                <a:cs typeface="Arial"/>
              </a:defRPr>
            </a:lvl8pPr>
            <a:lvl9pPr>
              <a:defRPr sz="3300" b="0">
                <a:solidFill>
                  <a:srgbClr val="286A4B"/>
                </a:solidFill>
                <a:latin typeface="Arial"/>
                <a:ea typeface="Arial"/>
                <a:cs typeface="Arial"/>
              </a:defRPr>
            </a:lvl9pPr>
          </a:lstStyle>
          <a:p xmlns:a="http://schemas.openxmlformats.org/drawingml/2006/main">
            <a:pPr>
              <a:defRPr sz="3300" b="0">
                <a:solidFill>
                  <a:srgbClr val="286A4B"/>
                </a:solidFill>
                <a:latin typeface="Arial"/>
                <a:ea typeface="Arial"/>
                <a:cs typeface="Arial"/>
              </a:defRPr>
            </a:pPr>
            <a:r>
              <a:rPr sz="3300" b="0">
                <a:solidFill>
                  <a:srgbClr val="286A4B"/>
                </a:solidFill>
                <a:latin typeface="Arial"/>
                <a:ea typeface="Arial"/>
                <a:cs typeface="Arial"/>
              </a:rPr>
              <a:t>A local habit tracker with a growing garden</a:t>
            </a:r>
          </a:p>
        </p:txBody>
      </p:sp>
      <p:sp>
        <p:nvSpPr>
          <p:cNvPr id="5" name="">
            <a:extLst xmlns:a="http://schemas.openxmlformats.org/drawingml/2006/main">
              <a:ext uri="{FF2B5EF4-FFF2-40B4-BE49-F238E27FC236}">
                <a16:creationId xmlns:a16="http://schemas.microsoft.com/office/drawing/2014/main" id="{6F5E3161-4154-4AA0-9903-F222873E7855}"/>
              </a:ext>
            </a:extLst>
          </p:cNvPr>
          <p:cNvSpPr>
            <a:spLocks xmlns:a="http://schemas.openxmlformats.org/drawingml/2006/main" noGrp="1"/>
          </p:cNvSpPr>
          <p:nvPr/>
        </p:nvSpPr>
        <p:spPr>
          <a:xfrm xmlns:a="http://schemas.openxmlformats.org/drawingml/2006/main">
            <a:off x="685800" y="36385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8372C"/>
                </a:solidFill>
                <a:latin typeface="Arial"/>
                <a:ea typeface="Arial"/>
                <a:cs typeface="Arial"/>
              </a:defRPr>
            </a:defPPr>
            <a:lvl1pPr>
              <a:defRPr sz="2400" b="1">
                <a:solidFill>
                  <a:srgbClr val="18372C"/>
                </a:solidFill>
                <a:latin typeface="Arial"/>
                <a:ea typeface="Arial"/>
                <a:cs typeface="Arial"/>
              </a:defRPr>
            </a:lvl1pPr>
            <a:lvl2pPr>
              <a:defRPr sz="2400" b="1">
                <a:solidFill>
                  <a:srgbClr val="18372C"/>
                </a:solidFill>
                <a:latin typeface="Arial"/>
                <a:ea typeface="Arial"/>
                <a:cs typeface="Arial"/>
              </a:defRPr>
            </a:lvl2pPr>
            <a:lvl3pPr>
              <a:defRPr sz="2400" b="1">
                <a:solidFill>
                  <a:srgbClr val="18372C"/>
                </a:solidFill>
                <a:latin typeface="Arial"/>
                <a:ea typeface="Arial"/>
                <a:cs typeface="Arial"/>
              </a:defRPr>
            </a:lvl3pPr>
            <a:lvl4pPr>
              <a:defRPr sz="2400" b="1">
                <a:solidFill>
                  <a:srgbClr val="18372C"/>
                </a:solidFill>
                <a:latin typeface="Arial"/>
                <a:ea typeface="Arial"/>
                <a:cs typeface="Arial"/>
              </a:defRPr>
            </a:lvl4pPr>
            <a:lvl5pPr>
              <a:defRPr sz="2400" b="1">
                <a:solidFill>
                  <a:srgbClr val="18372C"/>
                </a:solidFill>
                <a:latin typeface="Arial"/>
                <a:ea typeface="Arial"/>
                <a:cs typeface="Arial"/>
              </a:defRPr>
            </a:lvl5pPr>
            <a:lvl6pPr>
              <a:defRPr sz="2400" b="1">
                <a:solidFill>
                  <a:srgbClr val="18372C"/>
                </a:solidFill>
                <a:latin typeface="Arial"/>
                <a:ea typeface="Arial"/>
                <a:cs typeface="Arial"/>
              </a:defRPr>
            </a:lvl6pPr>
            <a:lvl7pPr>
              <a:defRPr sz="2400" b="1">
                <a:solidFill>
                  <a:srgbClr val="18372C"/>
                </a:solidFill>
                <a:latin typeface="Arial"/>
                <a:ea typeface="Arial"/>
                <a:cs typeface="Arial"/>
              </a:defRPr>
            </a:lvl7pPr>
            <a:lvl8pPr>
              <a:defRPr sz="2400" b="1">
                <a:solidFill>
                  <a:srgbClr val="18372C"/>
                </a:solidFill>
                <a:latin typeface="Arial"/>
                <a:ea typeface="Arial"/>
                <a:cs typeface="Arial"/>
              </a:defRPr>
            </a:lvl8pPr>
            <a:lvl9pPr>
              <a:defRPr sz="2400" b="1">
                <a:solidFill>
                  <a:srgbClr val="18372C"/>
                </a:solidFill>
                <a:latin typeface="Arial"/>
                <a:ea typeface="Arial"/>
                <a:cs typeface="Arial"/>
              </a:defRPr>
            </a:lvl9pPr>
          </a:lstStyle>
          <a:p xmlns:a="http://schemas.openxmlformats.org/drawingml/2006/main">
            <a:pPr>
              <a:defRPr sz="2400" b="1">
                <a:solidFill>
                  <a:srgbClr val="18372C"/>
                </a:solidFill>
                <a:latin typeface="Arial"/>
                <a:ea typeface="Arial"/>
                <a:cs typeface="Arial"/>
              </a:defRPr>
            </a:pPr>
            <a:r>
              <a:rPr sz="2400" b="1">
                <a:solidFill>
                  <a:srgbClr val="18372C"/>
                </a:solidFill>
                <a:latin typeface="Arial"/>
                <a:ea typeface="Arial"/>
                <a:cs typeface="Arial"/>
              </a:rPr>
              <a:t>Team CS</a:t>
            </a:r>
          </a:p>
        </p:txBody>
      </p:sp>
      <p:sp>
        <p:nvSpPr>
          <p:cNvPr id="6" name="">
            <a:extLst xmlns:a="http://schemas.openxmlformats.org/drawingml/2006/main">
              <a:ext uri="{FF2B5EF4-FFF2-40B4-BE49-F238E27FC236}">
                <a16:creationId xmlns:a16="http://schemas.microsoft.com/office/drawing/2014/main" id="{73BFE80C-378B-4BD6-ACDB-6203E1B08CA0}"/>
              </a:ext>
            </a:extLst>
          </p:cNvPr>
          <p:cNvSpPr>
            <a:spLocks xmlns:a="http://schemas.openxmlformats.org/drawingml/2006/main" noGrp="1"/>
          </p:cNvSpPr>
          <p:nvPr/>
        </p:nvSpPr>
        <p:spPr>
          <a:xfrm xmlns:a="http://schemas.openxmlformats.org/drawingml/2006/main">
            <a:off x="685800" y="4381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Clarence Li and Seul An Kim</a:t>
            </a:r>
          </a:p>
        </p:txBody>
      </p:sp>
      <p:sp>
        <p:nvSpPr>
          <p:cNvPr id="7" name="">
            <a:extLst xmlns:a="http://schemas.openxmlformats.org/drawingml/2006/main">
              <a:ext uri="{FF2B5EF4-FFF2-40B4-BE49-F238E27FC236}">
                <a16:creationId xmlns:a16="http://schemas.microsoft.com/office/drawing/2014/main" id="{7E6A9143-D401-48FE-AE3A-49823C6EBECE}"/>
              </a:ext>
            </a:extLst>
          </p:cNvPr>
          <p:cNvSpPr>
            <a:spLocks xmlns:a="http://schemas.openxmlformats.org/drawingml/2006/main" noGrp="1"/>
          </p:cNvSpPr>
          <p:nvPr/>
        </p:nvSpPr>
        <p:spPr>
          <a:xfrm xmlns:a="http://schemas.openxmlformats.org/drawingml/2006/main">
            <a:off x="685800" y="509587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45D"/>
                </a:solidFill>
                <a:latin typeface="Arial"/>
                <a:ea typeface="Arial"/>
                <a:cs typeface="Arial"/>
              </a:defRPr>
            </a:defPPr>
            <a:lvl1pPr>
              <a:defRPr sz="1875" b="0">
                <a:solidFill>
                  <a:srgbClr val="53645D"/>
                </a:solidFill>
                <a:latin typeface="Arial"/>
                <a:ea typeface="Arial"/>
                <a:cs typeface="Arial"/>
              </a:defRPr>
            </a:lvl1pPr>
            <a:lvl2pPr>
              <a:defRPr sz="1875" b="0">
                <a:solidFill>
                  <a:srgbClr val="53645D"/>
                </a:solidFill>
                <a:latin typeface="Arial"/>
                <a:ea typeface="Arial"/>
                <a:cs typeface="Arial"/>
              </a:defRPr>
            </a:lvl2pPr>
            <a:lvl3pPr>
              <a:defRPr sz="1875" b="0">
                <a:solidFill>
                  <a:srgbClr val="53645D"/>
                </a:solidFill>
                <a:latin typeface="Arial"/>
                <a:ea typeface="Arial"/>
                <a:cs typeface="Arial"/>
              </a:defRPr>
            </a:lvl3pPr>
            <a:lvl4pPr>
              <a:defRPr sz="1875" b="0">
                <a:solidFill>
                  <a:srgbClr val="53645D"/>
                </a:solidFill>
                <a:latin typeface="Arial"/>
                <a:ea typeface="Arial"/>
                <a:cs typeface="Arial"/>
              </a:defRPr>
            </a:lvl4pPr>
            <a:lvl5pPr>
              <a:defRPr sz="1875" b="0">
                <a:solidFill>
                  <a:srgbClr val="53645D"/>
                </a:solidFill>
                <a:latin typeface="Arial"/>
                <a:ea typeface="Arial"/>
                <a:cs typeface="Arial"/>
              </a:defRPr>
            </a:lvl5pPr>
            <a:lvl6pPr>
              <a:defRPr sz="1875" b="0">
                <a:solidFill>
                  <a:srgbClr val="53645D"/>
                </a:solidFill>
                <a:latin typeface="Arial"/>
                <a:ea typeface="Arial"/>
                <a:cs typeface="Arial"/>
              </a:defRPr>
            </a:lvl6pPr>
            <a:lvl7pPr>
              <a:defRPr sz="1875" b="0">
                <a:solidFill>
                  <a:srgbClr val="53645D"/>
                </a:solidFill>
                <a:latin typeface="Arial"/>
                <a:ea typeface="Arial"/>
                <a:cs typeface="Arial"/>
              </a:defRPr>
            </a:lvl7pPr>
            <a:lvl8pPr>
              <a:defRPr sz="1875" b="0">
                <a:solidFill>
                  <a:srgbClr val="53645D"/>
                </a:solidFill>
                <a:latin typeface="Arial"/>
                <a:ea typeface="Arial"/>
                <a:cs typeface="Arial"/>
              </a:defRPr>
            </a:lvl8pPr>
            <a:lvl9pPr>
              <a:defRPr sz="1875" b="0">
                <a:solidFill>
                  <a:srgbClr val="53645D"/>
                </a:solidFill>
                <a:latin typeface="Arial"/>
                <a:ea typeface="Arial"/>
                <a:cs typeface="Arial"/>
              </a:defRPr>
            </a:lvl9pPr>
          </a:lstStyle>
          <a:p xmlns:a="http://schemas.openxmlformats.org/drawingml/2006/main">
            <a:pPr>
              <a:defRPr sz="1875" b="0">
                <a:solidFill>
                  <a:srgbClr val="53645D"/>
                </a:solidFill>
                <a:latin typeface="Arial"/>
                <a:ea typeface="Arial"/>
                <a:cs typeface="Arial"/>
              </a:defRPr>
            </a:pPr>
            <a:r>
              <a:rPr sz="1875" b="0">
                <a:solidFill>
                  <a:srgbClr val="53645D"/>
                </a:solidFill>
                <a:latin typeface="Arial"/>
                <a:ea typeface="Arial"/>
                <a:cs typeface="Arial"/>
              </a:rPr>
              <a:t>Mobile Application Development Project</a:t>
            </a:r>
          </a:p>
        </p:txBody>
      </p:sp>
    </p:spTree>
    <p:extLst>
      <p:ext uri="{BB962C8B-B14F-4D97-AF65-F5344CB8AC3E}">
        <p14:creationId xmlns:p14="http://schemas.microsoft.com/office/powerpoint/2010/main" val="1546474834"/>
      </p:ext>
    </p:extLst>
  </p:cSld>
  <p:transition spd="med">
    <p:fade/>
  </p:transition>
</p:sld>
</file>

<file path=ppt/slides/slide2.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6AECDC-4972-4309-8EAE-C5F5ACFE784C}"/>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Problem and general requirements</a:t>
            </a:r>
          </a:p>
        </p:txBody>
      </p:sp>
      <p:sp>
        <p:nvSpPr>
          <p:cNvPr id="2" name="">
            <a:extLst xmlns:a="http://schemas.openxmlformats.org/drawingml/2006/main">
              <a:ext uri="{FF2B5EF4-FFF2-40B4-BE49-F238E27FC236}">
                <a16:creationId xmlns:a16="http://schemas.microsoft.com/office/drawing/2014/main" id="{CFCF44F3-0641-4A89-8FDB-F8CAAB0DC7A7}"/>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1F982C7B-BE1B-4B73-87D4-BEB0BD966F99}"/>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BD94133-9B1D-4594-B098-CA519C18D9D2}"/>
              </a:ext>
            </a:extLst>
          </p:cNvPr>
          <p:cNvSpPr>
            <a:spLocks xmlns:a="http://schemas.openxmlformats.org/drawingml/2006/main" noGrp="1"/>
          </p:cNvSpPr>
          <p:nvPr/>
        </p:nvSpPr>
        <p:spPr>
          <a:xfrm xmlns:a="http://schemas.openxmlformats.org/drawingml/2006/main">
            <a:off x="685800" y="1581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Problem: make weekly habit consistency easy to record and review.</a:t>
            </a:r>
          </a:p>
        </p:txBody>
      </p:sp>
      <p:sp>
        <p:nvSpPr>
          <p:cNvPr id="5" name="">
            <a:extLst xmlns:a="http://schemas.openxmlformats.org/drawingml/2006/main">
              <a:ext uri="{FF2B5EF4-FFF2-40B4-BE49-F238E27FC236}">
                <a16:creationId xmlns:a16="http://schemas.microsoft.com/office/drawing/2014/main" id="{CEBC402C-E0CC-4667-8D0F-AD85E09F72B4}"/>
              </a:ext>
            </a:extLst>
          </p:cNvPr>
          <p:cNvSpPr>
            <a:spLocks xmlns:a="http://schemas.openxmlformats.org/drawingml/2006/main" noGrp="1"/>
          </p:cNvSpPr>
          <p:nvPr/>
        </p:nvSpPr>
        <p:spPr>
          <a:xfrm xmlns:a="http://schemas.openxmlformats.org/drawingml/2006/main">
            <a:off x="685800" y="2533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Inputs: habit details, a 1–7 day target, dates, notes, and settings.</a:t>
            </a:r>
          </a:p>
        </p:txBody>
      </p:sp>
      <p:sp>
        <p:nvSpPr>
          <p:cNvPr id="6" name="">
            <a:extLst xmlns:a="http://schemas.openxmlformats.org/drawingml/2006/main">
              <a:ext uri="{FF2B5EF4-FFF2-40B4-BE49-F238E27FC236}">
                <a16:creationId xmlns:a16="http://schemas.microsoft.com/office/drawing/2014/main" id="{57769AF8-2147-4FE8-A5CD-1B04345B760A}"/>
              </a:ext>
            </a:extLst>
          </p:cNvPr>
          <p:cNvSpPr>
            <a:spLocks xmlns:a="http://schemas.openxmlformats.org/drawingml/2006/main" noGrp="1"/>
          </p:cNvSpPr>
          <p:nvPr/>
        </p:nvSpPr>
        <p:spPr>
          <a:xfrm xmlns:a="http://schemas.openxmlformats.org/drawingml/2006/main">
            <a:off x="685800" y="3486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Outputs: garden progress, check-in history, and target suggestions.</a:t>
            </a:r>
          </a:p>
        </p:txBody>
      </p:sp>
      <p:sp>
        <p:nvSpPr>
          <p:cNvPr id="7" name="">
            <a:extLst xmlns:a="http://schemas.openxmlformats.org/drawingml/2006/main">
              <a:ext uri="{FF2B5EF4-FFF2-40B4-BE49-F238E27FC236}">
                <a16:creationId xmlns:a16="http://schemas.microsoft.com/office/drawing/2014/main" id="{B9A4861E-4C54-46E7-B860-ADA4DBA891A5}"/>
              </a:ext>
            </a:extLst>
          </p:cNvPr>
          <p:cNvSpPr>
            <a:spLocks xmlns:a="http://schemas.openxmlformats.org/drawingml/2006/main" noGrp="1"/>
          </p:cNvSpPr>
          <p:nvPr/>
        </p:nvSpPr>
        <p:spPr>
          <a:xfrm xmlns:a="http://schemas.openxmlformats.org/drawingml/2006/main">
            <a:off x="685800" y="4438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Requirements: linked CRUD, validation, local storage, and five screens.</a:t>
            </a:r>
          </a:p>
        </p:txBody>
      </p:sp>
    </p:spTree>
    <p:extLst>
      <p:ext uri="{BB962C8B-B14F-4D97-AF65-F5344CB8AC3E}">
        <p14:creationId xmlns:p14="http://schemas.microsoft.com/office/powerpoint/2010/main" val="565181757"/>
      </p:ext>
    </p:extLst>
  </p:cSld>
  <p:transition spd="med">
    <p:fade/>
  </p:transition>
</p:sld>
</file>

<file path=ppt/slides/slide3.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FA2DA2-96F6-4789-8746-BA0FBEE92EA6}"/>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Solution and five-screen flow</a:t>
            </a:r>
          </a:p>
        </p:txBody>
      </p:sp>
      <p:sp>
        <p:nvSpPr>
          <p:cNvPr id="2" name="">
            <a:extLst xmlns:a="http://schemas.openxmlformats.org/drawingml/2006/main">
              <a:ext uri="{FF2B5EF4-FFF2-40B4-BE49-F238E27FC236}">
                <a16:creationId xmlns:a16="http://schemas.microsoft.com/office/drawing/2014/main" id="{6B0B9B0B-3DD0-4EAC-A422-15FEEA6C771C}"/>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9A143F85-633A-4ACD-806C-2229FCD2B424}"/>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A9C5925F-ABC4-420F-82D0-CE87681F7AB6}"/>
              </a:ext>
            </a:extLst>
          </p:cNvPr>
          <p:cNvSpPr>
            <a:spLocks xmlns:a="http://schemas.openxmlformats.org/drawingml/2006/main" noGrp="1"/>
          </p:cNvSpPr>
          <p:nvPr/>
        </p:nvSpPr>
        <p:spPr>
          <a:xfrm xmlns:a="http://schemas.openxmlformats.org/drawingml/2006/main">
            <a:off x="685800" y="1581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Garden: browse habits and open a selected habit.</a:t>
            </a:r>
          </a:p>
        </p:txBody>
      </p:sp>
      <p:sp>
        <p:nvSpPr>
          <p:cNvPr id="5" name="">
            <a:extLst xmlns:a="http://schemas.openxmlformats.org/drawingml/2006/main">
              <a:ext uri="{FF2B5EF4-FFF2-40B4-BE49-F238E27FC236}">
                <a16:creationId xmlns:a16="http://schemas.microsoft.com/office/drawing/2014/main" id="{EFDFE2C4-F613-4335-9816-32F97D334C7E}"/>
              </a:ext>
            </a:extLst>
          </p:cNvPr>
          <p:cNvSpPr>
            <a:spLocks xmlns:a="http://schemas.openxmlformats.org/drawingml/2006/main" noGrp="1"/>
          </p:cNvSpPr>
          <p:nvPr/>
        </p:nvSpPr>
        <p:spPr>
          <a:xfrm xmlns:a="http://schemas.openxmlformats.org/drawingml/2006/main">
            <a:off x="685800" y="2533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Editor and Detail: define goals, manage the week, and check in.</a:t>
            </a:r>
          </a:p>
        </p:txBody>
      </p:sp>
      <p:sp>
        <p:nvSpPr>
          <p:cNvPr id="6" name="">
            <a:extLst xmlns:a="http://schemas.openxmlformats.org/drawingml/2006/main">
              <a:ext uri="{FF2B5EF4-FFF2-40B4-BE49-F238E27FC236}">
                <a16:creationId xmlns:a16="http://schemas.microsoft.com/office/drawing/2014/main" id="{54CF7350-CBE6-4BEE-9734-2EE82195E243}"/>
              </a:ext>
            </a:extLst>
          </p:cNvPr>
          <p:cNvSpPr>
            <a:spLocks xmlns:a="http://schemas.openxmlformats.org/drawingml/2006/main" noGrp="1"/>
          </p:cNvSpPr>
          <p:nvPr/>
        </p:nvSpPr>
        <p:spPr>
          <a:xfrm xmlns:a="http://schemas.openxmlformats.org/drawingml/2006/main">
            <a:off x="685800" y="3486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History and Settings: review records and save preferences.</a:t>
            </a:r>
          </a:p>
        </p:txBody>
      </p:sp>
      <p:sp>
        <p:nvSpPr>
          <p:cNvPr id="7" name="">
            <a:extLst xmlns:a="http://schemas.openxmlformats.org/drawingml/2006/main">
              <a:ext uri="{FF2B5EF4-FFF2-40B4-BE49-F238E27FC236}">
                <a16:creationId xmlns:a16="http://schemas.microsoft.com/office/drawing/2014/main" id="{875D78AB-50AA-40CC-A540-48EA8F39565C}"/>
              </a:ext>
            </a:extLst>
          </p:cNvPr>
          <p:cNvSpPr>
            <a:spLocks xmlns:a="http://schemas.openxmlformats.org/drawingml/2006/main" noGrp="1"/>
          </p:cNvSpPr>
          <p:nvPr/>
        </p:nvSpPr>
        <p:spPr>
          <a:xfrm xmlns:a="http://schemas.openxmlformats.org/drawingml/2006/main">
            <a:off x="685800" y="4438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Navigation: routes for editor/detail and an IndexedStack for tabs.</a:t>
            </a:r>
          </a:p>
        </p:txBody>
      </p:sp>
    </p:spTree>
    <p:extLst>
      <p:ext uri="{BB962C8B-B14F-4D97-AF65-F5344CB8AC3E}">
        <p14:creationId xmlns:p14="http://schemas.microsoft.com/office/powerpoint/2010/main" val="734861228"/>
      </p:ext>
    </p:extLst>
  </p:cSld>
  <p:transition spd="med">
    <p:fade/>
  </p:transition>
</p:sld>
</file>

<file path=ppt/slides/slide4.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C80D96F-B995-462F-9987-7B55D50BF8F0}"/>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UML class diagram</a:t>
            </a:r>
          </a:p>
        </p:txBody>
      </p:sp>
      <p:sp>
        <p:nvSpPr>
          <p:cNvPr id="2" name="">
            <a:extLst xmlns:a="http://schemas.openxmlformats.org/drawingml/2006/main">
              <a:ext uri="{FF2B5EF4-FFF2-40B4-BE49-F238E27FC236}">
                <a16:creationId xmlns:a16="http://schemas.microsoft.com/office/drawing/2014/main" id="{7AF31437-6382-498E-B969-3C244CFC7835}"/>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0EC759E5-0CD7-4E58-A3FC-79FAC6EED196}"/>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A0C618C3-71C6-4CB5-8BB9-6428D95468C5}"/>
              </a:ext>
            </a:extLst>
          </p:cNvPr>
          <p:cNvSpPr>
            <a:spLocks xmlns:a="http://schemas.openxmlformats.org/drawingml/2006/main" noGrp="1"/>
          </p:cNvSpPr>
          <p:nvPr/>
        </p:nvSpPr>
        <p:spPr>
          <a:xfrm xmlns:a="http://schemas.openxmlformats.org/drawingml/2006/main">
            <a:off x="666750" y="1666875"/>
            <a:ext cx="3286125" cy="2524125"/>
          </a:xfrm>
          <a:prstGeom xmlns:a="http://schemas.openxmlformats.org/drawingml/2006/main" prst="rect">
            <a:avLst/>
          </a:prstGeom>
          <a:solidFill xmlns:a="http://schemas.openxmlformats.org/drawingml/2006/main">
            <a:srgbClr val="FFFFFF"/>
          </a:solidFill>
          <a:ln xmlns:a="http://schemas.openxmlformats.org/drawingml/2006/main" w="19050">
            <a:solidFill>
              <a:srgbClr val="286A4B"/>
            </a:solidFill>
          </a:ln>
        </p:spPr>
      </p:sp>
      <p:sp>
        <p:nvSpPr>
          <p:cNvPr id="5" name="">
            <a:extLst xmlns:a="http://schemas.openxmlformats.org/drawingml/2006/main">
              <a:ext uri="{FF2B5EF4-FFF2-40B4-BE49-F238E27FC236}">
                <a16:creationId xmlns:a16="http://schemas.microsoft.com/office/drawing/2014/main" id="{C9991A27-17EC-475C-A079-B73C9221ABA9}"/>
              </a:ext>
            </a:extLst>
          </p:cNvPr>
          <p:cNvSpPr>
            <a:spLocks xmlns:a="http://schemas.openxmlformats.org/drawingml/2006/main" noGrp="1"/>
          </p:cNvSpPr>
          <p:nvPr/>
        </p:nvSpPr>
        <p:spPr>
          <a:xfrm xmlns:a="http://schemas.openxmlformats.org/drawingml/2006/main">
            <a:off x="838200" y="1790700"/>
            <a:ext cx="2943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86A4B"/>
                </a:solidFill>
                <a:latin typeface="Arial"/>
                <a:ea typeface="Arial"/>
                <a:cs typeface="Arial"/>
              </a:defRPr>
            </a:defPPr>
            <a:lvl1pPr>
              <a:defRPr sz="2025" b="1">
                <a:solidFill>
                  <a:srgbClr val="286A4B"/>
                </a:solidFill>
                <a:latin typeface="Arial"/>
                <a:ea typeface="Arial"/>
                <a:cs typeface="Arial"/>
              </a:defRPr>
            </a:lvl1pPr>
            <a:lvl2pPr>
              <a:defRPr sz="2025" b="1">
                <a:solidFill>
                  <a:srgbClr val="286A4B"/>
                </a:solidFill>
                <a:latin typeface="Arial"/>
                <a:ea typeface="Arial"/>
                <a:cs typeface="Arial"/>
              </a:defRPr>
            </a:lvl2pPr>
            <a:lvl3pPr>
              <a:defRPr sz="2025" b="1">
                <a:solidFill>
                  <a:srgbClr val="286A4B"/>
                </a:solidFill>
                <a:latin typeface="Arial"/>
                <a:ea typeface="Arial"/>
                <a:cs typeface="Arial"/>
              </a:defRPr>
            </a:lvl3pPr>
            <a:lvl4pPr>
              <a:defRPr sz="2025" b="1">
                <a:solidFill>
                  <a:srgbClr val="286A4B"/>
                </a:solidFill>
                <a:latin typeface="Arial"/>
                <a:ea typeface="Arial"/>
                <a:cs typeface="Arial"/>
              </a:defRPr>
            </a:lvl4pPr>
            <a:lvl5pPr>
              <a:defRPr sz="2025" b="1">
                <a:solidFill>
                  <a:srgbClr val="286A4B"/>
                </a:solidFill>
                <a:latin typeface="Arial"/>
                <a:ea typeface="Arial"/>
                <a:cs typeface="Arial"/>
              </a:defRPr>
            </a:lvl5pPr>
            <a:lvl6pPr>
              <a:defRPr sz="2025" b="1">
                <a:solidFill>
                  <a:srgbClr val="286A4B"/>
                </a:solidFill>
                <a:latin typeface="Arial"/>
                <a:ea typeface="Arial"/>
                <a:cs typeface="Arial"/>
              </a:defRPr>
            </a:lvl6pPr>
            <a:lvl7pPr>
              <a:defRPr sz="2025" b="1">
                <a:solidFill>
                  <a:srgbClr val="286A4B"/>
                </a:solidFill>
                <a:latin typeface="Arial"/>
                <a:ea typeface="Arial"/>
                <a:cs typeface="Arial"/>
              </a:defRPr>
            </a:lvl7pPr>
            <a:lvl8pPr>
              <a:defRPr sz="2025" b="1">
                <a:solidFill>
                  <a:srgbClr val="286A4B"/>
                </a:solidFill>
                <a:latin typeface="Arial"/>
                <a:ea typeface="Arial"/>
                <a:cs typeface="Arial"/>
              </a:defRPr>
            </a:lvl8pPr>
            <a:lvl9pPr>
              <a:defRPr sz="2025" b="1">
                <a:solidFill>
                  <a:srgbClr val="286A4B"/>
                </a:solidFill>
                <a:latin typeface="Arial"/>
                <a:ea typeface="Arial"/>
                <a:cs typeface="Arial"/>
              </a:defRPr>
            </a:lvl9pPr>
          </a:lstStyle>
          <a:p xmlns:a="http://schemas.openxmlformats.org/drawingml/2006/main">
            <a:pPr>
              <a:defRPr sz="2025" b="1">
                <a:solidFill>
                  <a:srgbClr val="286A4B"/>
                </a:solidFill>
                <a:latin typeface="Arial"/>
                <a:ea typeface="Arial"/>
                <a:cs typeface="Arial"/>
              </a:defRPr>
            </a:pPr>
            <a:r>
              <a:rPr sz="2025" b="1">
                <a:solidFill>
                  <a:srgbClr val="286A4B"/>
                </a:solidFill>
                <a:latin typeface="Arial"/>
                <a:ea typeface="Arial"/>
                <a:cs typeface="Arial"/>
              </a:rPr>
              <a:t>Habit</a:t>
            </a:r>
          </a:p>
        </p:txBody>
      </p:sp>
      <p:sp>
        <p:nvSpPr>
          <p:cNvPr id="6" name="">
            <a:extLst xmlns:a="http://schemas.openxmlformats.org/drawingml/2006/main">
              <a:ext uri="{FF2B5EF4-FFF2-40B4-BE49-F238E27FC236}">
                <a16:creationId xmlns:a16="http://schemas.microsoft.com/office/drawing/2014/main" id="{EE3CB3F9-92CD-4905-A8DC-C06B5A4D61A5}"/>
              </a:ext>
            </a:extLst>
          </p:cNvPr>
          <p:cNvSpPr>
            <a:spLocks xmlns:a="http://schemas.openxmlformats.org/drawingml/2006/main" noGrp="1"/>
          </p:cNvSpPr>
          <p:nvPr/>
        </p:nvSpPr>
        <p:spPr>
          <a:xfrm xmlns:a="http://schemas.openxmlformats.org/drawingml/2006/main">
            <a:off x="838200" y="2286000"/>
            <a:ext cx="294322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8372C"/>
                </a:solidFill>
                <a:latin typeface="Arial"/>
                <a:ea typeface="Arial"/>
                <a:cs typeface="Arial"/>
              </a:defRPr>
            </a:defPPr>
            <a:lvl1pPr>
              <a:defRPr sz="1650" b="0">
                <a:solidFill>
                  <a:srgbClr val="18372C"/>
                </a:solidFill>
                <a:latin typeface="Arial"/>
                <a:ea typeface="Arial"/>
                <a:cs typeface="Arial"/>
              </a:defRPr>
            </a:lvl1pPr>
            <a:lvl2pPr>
              <a:defRPr sz="1650" b="0">
                <a:solidFill>
                  <a:srgbClr val="18372C"/>
                </a:solidFill>
                <a:latin typeface="Arial"/>
                <a:ea typeface="Arial"/>
                <a:cs typeface="Arial"/>
              </a:defRPr>
            </a:lvl2pPr>
            <a:lvl3pPr>
              <a:defRPr sz="1650" b="0">
                <a:solidFill>
                  <a:srgbClr val="18372C"/>
                </a:solidFill>
                <a:latin typeface="Arial"/>
                <a:ea typeface="Arial"/>
                <a:cs typeface="Arial"/>
              </a:defRPr>
            </a:lvl3pPr>
            <a:lvl4pPr>
              <a:defRPr sz="1650" b="0">
                <a:solidFill>
                  <a:srgbClr val="18372C"/>
                </a:solidFill>
                <a:latin typeface="Arial"/>
                <a:ea typeface="Arial"/>
                <a:cs typeface="Arial"/>
              </a:defRPr>
            </a:lvl4pPr>
            <a:lvl5pPr>
              <a:defRPr sz="1650" b="0">
                <a:solidFill>
                  <a:srgbClr val="18372C"/>
                </a:solidFill>
                <a:latin typeface="Arial"/>
                <a:ea typeface="Arial"/>
                <a:cs typeface="Arial"/>
              </a:defRPr>
            </a:lvl5pPr>
            <a:lvl6pPr>
              <a:defRPr sz="1650" b="0">
                <a:solidFill>
                  <a:srgbClr val="18372C"/>
                </a:solidFill>
                <a:latin typeface="Arial"/>
                <a:ea typeface="Arial"/>
                <a:cs typeface="Arial"/>
              </a:defRPr>
            </a:lvl6pPr>
            <a:lvl7pPr>
              <a:defRPr sz="1650" b="0">
                <a:solidFill>
                  <a:srgbClr val="18372C"/>
                </a:solidFill>
                <a:latin typeface="Arial"/>
                <a:ea typeface="Arial"/>
                <a:cs typeface="Arial"/>
              </a:defRPr>
            </a:lvl7pPr>
            <a:lvl8pPr>
              <a:defRPr sz="1650" b="0">
                <a:solidFill>
                  <a:srgbClr val="18372C"/>
                </a:solidFill>
                <a:latin typeface="Arial"/>
                <a:ea typeface="Arial"/>
                <a:cs typeface="Arial"/>
              </a:defRPr>
            </a:lvl8pPr>
            <a:lvl9pPr>
              <a:defRPr sz="1650" b="0">
                <a:solidFill>
                  <a:srgbClr val="18372C"/>
                </a:solidFill>
                <a:latin typeface="Arial"/>
                <a:ea typeface="Arial"/>
                <a:cs typeface="Arial"/>
              </a:defRPr>
            </a:lvl9pPr>
          </a:lstStyle>
          <a:p xmlns:a="http://schemas.openxmlformats.org/drawingml/2006/main">
            <a:pPr>
              <a:defRPr sz="1650" b="0">
                <a:solidFill>
                  <a:srgbClr val="18372C"/>
                </a:solidFill>
                <a:latin typeface="Arial"/>
                <a:ea typeface="Arial"/>
                <a:cs typeface="Arial"/>
              </a:defRPr>
            </a:pPr>
            <a:r>
              <a:rPr sz="1650" b="0">
                <a:solidFill>
                  <a:srgbClr val="18372C"/>
                </a:solidFill>
                <a:latin typeface="Arial"/>
                <a:ea typeface="Arial"/>
                <a:cs typeface="Arial"/>
              </a:rPr>
              <a:t>id: int?</a:t>
            </a:r>
          </a:p>
          <a:p xmlns:a="http://schemas.openxmlformats.org/drawingml/2006/main">
            <a:pPr>
              <a:defRPr sz="1650" b="0">
                <a:solidFill>
                  <a:srgbClr val="18372C"/>
                </a:solidFill>
                <a:latin typeface="Arial"/>
                <a:ea typeface="Arial"/>
                <a:cs typeface="Arial"/>
              </a:defRPr>
            </a:pPr>
            <a:r>
              <a:rPr sz="1650" b="0">
                <a:solidFill>
                  <a:srgbClr val="18372C"/>
                </a:solidFill>
                <a:latin typeface="Arial"/>
                <a:ea typeface="Arial"/>
                <a:cs typeface="Arial"/>
              </a:rPr>
              <a:t>title, category: String</a:t>
            </a:r>
          </a:p>
          <a:p xmlns:a="http://schemas.openxmlformats.org/drawingml/2006/main">
            <a:pPr>
              <a:defRPr sz="1650" b="0">
                <a:solidFill>
                  <a:srgbClr val="18372C"/>
                </a:solidFill>
                <a:latin typeface="Arial"/>
                <a:ea typeface="Arial"/>
                <a:cs typeface="Arial"/>
              </a:defRPr>
            </a:pPr>
            <a:r>
              <a:rPr sz="1650" b="0">
                <a:solidFill>
                  <a:srgbClr val="18372C"/>
                </a:solidFill>
                <a:latin typeface="Arial"/>
                <a:ea typeface="Arial"/>
                <a:cs typeface="Arial"/>
              </a:rPr>
              <a:t>weeklyTarget: int</a:t>
            </a:r>
          </a:p>
          <a:p xmlns:a="http://schemas.openxmlformats.org/drawingml/2006/main">
            <a:pPr>
              <a:defRPr sz="1650" b="0">
                <a:solidFill>
                  <a:srgbClr val="18372C"/>
                </a:solidFill>
                <a:latin typeface="Arial"/>
                <a:ea typeface="Arial"/>
                <a:cs typeface="Arial"/>
              </a:defRPr>
            </a:pPr>
            <a:r>
              <a:rPr sz="1650" b="0">
                <a:solidFill>
                  <a:srgbClr val="18372C"/>
                </a:solidFill>
                <a:latin typeface="Arial"/>
                <a:ea typeface="Arial"/>
                <a:cs typeface="Arial"/>
              </a:rPr>
              <a:t>startDate: DateTime</a:t>
            </a:r>
          </a:p>
          <a:p xmlns:a="http://schemas.openxmlformats.org/drawingml/2006/main">
            <a:pPr>
              <a:defRPr sz="1650" b="0">
                <a:solidFill>
                  <a:srgbClr val="18372C"/>
                </a:solidFill>
                <a:latin typeface="Arial"/>
                <a:ea typeface="Arial"/>
                <a:cs typeface="Arial"/>
              </a:defRPr>
            </a:pPr>
            <a:r>
              <a:rPr sz="1650" b="0">
                <a:solidFill>
                  <a:srgbClr val="18372C"/>
                </a:solidFill>
                <a:latin typeface="Arial"/>
                <a:ea typeface="Arial"/>
                <a:cs typeface="Arial"/>
              </a:rPr>
              <a:t>cycleStatus: String</a:t>
            </a:r>
          </a:p>
        </p:txBody>
      </p:sp>
      <p:sp>
        <p:nvSpPr>
          <p:cNvPr id="7" name="">
            <a:extLst xmlns:a="http://schemas.openxmlformats.org/drawingml/2006/main">
              <a:ext uri="{FF2B5EF4-FFF2-40B4-BE49-F238E27FC236}">
                <a16:creationId xmlns:a16="http://schemas.microsoft.com/office/drawing/2014/main" id="{EE2B906A-3F92-498C-8766-6A507067D5A5}"/>
              </a:ext>
            </a:extLst>
          </p:cNvPr>
          <p:cNvSpPr>
            <a:spLocks xmlns:a="http://schemas.openxmlformats.org/drawingml/2006/main" noGrp="1"/>
          </p:cNvSpPr>
          <p:nvPr/>
        </p:nvSpPr>
        <p:spPr>
          <a:xfrm xmlns:a="http://schemas.openxmlformats.org/drawingml/2006/main">
            <a:off x="8143875" y="1666875"/>
            <a:ext cx="3286125" cy="2524125"/>
          </a:xfrm>
          <a:prstGeom xmlns:a="http://schemas.openxmlformats.org/drawingml/2006/main" prst="rect">
            <a:avLst/>
          </a:prstGeom>
          <a:solidFill xmlns:a="http://schemas.openxmlformats.org/drawingml/2006/main">
            <a:srgbClr val="FFFFFF"/>
          </a:solidFill>
          <a:ln xmlns:a="http://schemas.openxmlformats.org/drawingml/2006/main" w="19050">
            <a:solidFill>
              <a:srgbClr val="286A4B"/>
            </a:solidFill>
          </a:ln>
        </p:spPr>
      </p:sp>
      <p:sp>
        <p:nvSpPr>
          <p:cNvPr id="8" name="">
            <a:extLst xmlns:a="http://schemas.openxmlformats.org/drawingml/2006/main">
              <a:ext uri="{FF2B5EF4-FFF2-40B4-BE49-F238E27FC236}">
                <a16:creationId xmlns:a16="http://schemas.microsoft.com/office/drawing/2014/main" id="{9F7C1966-6B0B-4575-8C36-804A0F5DC02C}"/>
              </a:ext>
            </a:extLst>
          </p:cNvPr>
          <p:cNvSpPr>
            <a:spLocks xmlns:a="http://schemas.openxmlformats.org/drawingml/2006/main" noGrp="1"/>
          </p:cNvSpPr>
          <p:nvPr/>
        </p:nvSpPr>
        <p:spPr>
          <a:xfrm xmlns:a="http://schemas.openxmlformats.org/drawingml/2006/main">
            <a:off x="8315325" y="1790700"/>
            <a:ext cx="2943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86A4B"/>
                </a:solidFill>
                <a:latin typeface="Arial"/>
                <a:ea typeface="Arial"/>
                <a:cs typeface="Arial"/>
              </a:defRPr>
            </a:defPPr>
            <a:lvl1pPr>
              <a:defRPr sz="2025" b="1">
                <a:solidFill>
                  <a:srgbClr val="286A4B"/>
                </a:solidFill>
                <a:latin typeface="Arial"/>
                <a:ea typeface="Arial"/>
                <a:cs typeface="Arial"/>
              </a:defRPr>
            </a:lvl1pPr>
            <a:lvl2pPr>
              <a:defRPr sz="2025" b="1">
                <a:solidFill>
                  <a:srgbClr val="286A4B"/>
                </a:solidFill>
                <a:latin typeface="Arial"/>
                <a:ea typeface="Arial"/>
                <a:cs typeface="Arial"/>
              </a:defRPr>
            </a:lvl2pPr>
            <a:lvl3pPr>
              <a:defRPr sz="2025" b="1">
                <a:solidFill>
                  <a:srgbClr val="286A4B"/>
                </a:solidFill>
                <a:latin typeface="Arial"/>
                <a:ea typeface="Arial"/>
                <a:cs typeface="Arial"/>
              </a:defRPr>
            </a:lvl3pPr>
            <a:lvl4pPr>
              <a:defRPr sz="2025" b="1">
                <a:solidFill>
                  <a:srgbClr val="286A4B"/>
                </a:solidFill>
                <a:latin typeface="Arial"/>
                <a:ea typeface="Arial"/>
                <a:cs typeface="Arial"/>
              </a:defRPr>
            </a:lvl4pPr>
            <a:lvl5pPr>
              <a:defRPr sz="2025" b="1">
                <a:solidFill>
                  <a:srgbClr val="286A4B"/>
                </a:solidFill>
                <a:latin typeface="Arial"/>
                <a:ea typeface="Arial"/>
                <a:cs typeface="Arial"/>
              </a:defRPr>
            </a:lvl5pPr>
            <a:lvl6pPr>
              <a:defRPr sz="2025" b="1">
                <a:solidFill>
                  <a:srgbClr val="286A4B"/>
                </a:solidFill>
                <a:latin typeface="Arial"/>
                <a:ea typeface="Arial"/>
                <a:cs typeface="Arial"/>
              </a:defRPr>
            </a:lvl6pPr>
            <a:lvl7pPr>
              <a:defRPr sz="2025" b="1">
                <a:solidFill>
                  <a:srgbClr val="286A4B"/>
                </a:solidFill>
                <a:latin typeface="Arial"/>
                <a:ea typeface="Arial"/>
                <a:cs typeface="Arial"/>
              </a:defRPr>
            </a:lvl7pPr>
            <a:lvl8pPr>
              <a:defRPr sz="2025" b="1">
                <a:solidFill>
                  <a:srgbClr val="286A4B"/>
                </a:solidFill>
                <a:latin typeface="Arial"/>
                <a:ea typeface="Arial"/>
                <a:cs typeface="Arial"/>
              </a:defRPr>
            </a:lvl8pPr>
            <a:lvl9pPr>
              <a:defRPr sz="2025" b="1">
                <a:solidFill>
                  <a:srgbClr val="286A4B"/>
                </a:solidFill>
                <a:latin typeface="Arial"/>
                <a:ea typeface="Arial"/>
                <a:cs typeface="Arial"/>
              </a:defRPr>
            </a:lvl9pPr>
          </a:lstStyle>
          <a:p xmlns:a="http://schemas.openxmlformats.org/drawingml/2006/main">
            <a:pPr>
              <a:defRPr sz="2025" b="1">
                <a:solidFill>
                  <a:srgbClr val="286A4B"/>
                </a:solidFill>
                <a:latin typeface="Arial"/>
                <a:ea typeface="Arial"/>
                <a:cs typeface="Arial"/>
              </a:defRPr>
            </a:pPr>
            <a:r>
              <a:rPr sz="2025" b="1">
                <a:solidFill>
                  <a:srgbClr val="286A4B"/>
                </a:solidFill>
                <a:latin typeface="Arial"/>
                <a:ea typeface="Arial"/>
                <a:cs typeface="Arial"/>
              </a:rPr>
              <a:t>CheckIn</a:t>
            </a:r>
          </a:p>
        </p:txBody>
      </p:sp>
      <p:sp>
        <p:nvSpPr>
          <p:cNvPr id="9" name="">
            <a:extLst xmlns:a="http://schemas.openxmlformats.org/drawingml/2006/main">
              <a:ext uri="{FF2B5EF4-FFF2-40B4-BE49-F238E27FC236}">
                <a16:creationId xmlns:a16="http://schemas.microsoft.com/office/drawing/2014/main" id="{C0730697-682C-480E-BE46-CD414FC63060}"/>
              </a:ext>
            </a:extLst>
          </p:cNvPr>
          <p:cNvSpPr>
            <a:spLocks xmlns:a="http://schemas.openxmlformats.org/drawingml/2006/main" noGrp="1"/>
          </p:cNvSpPr>
          <p:nvPr/>
        </p:nvSpPr>
        <p:spPr>
          <a:xfrm xmlns:a="http://schemas.openxmlformats.org/drawingml/2006/main">
            <a:off x="8315325" y="2286000"/>
            <a:ext cx="294322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8372C"/>
                </a:solidFill>
                <a:latin typeface="Arial"/>
                <a:ea typeface="Arial"/>
                <a:cs typeface="Arial"/>
              </a:defRPr>
            </a:defPPr>
            <a:lvl1pPr>
              <a:defRPr sz="1650" b="0">
                <a:solidFill>
                  <a:srgbClr val="18372C"/>
                </a:solidFill>
                <a:latin typeface="Arial"/>
                <a:ea typeface="Arial"/>
                <a:cs typeface="Arial"/>
              </a:defRPr>
            </a:lvl1pPr>
            <a:lvl2pPr>
              <a:defRPr sz="1650" b="0">
                <a:solidFill>
                  <a:srgbClr val="18372C"/>
                </a:solidFill>
                <a:latin typeface="Arial"/>
                <a:ea typeface="Arial"/>
                <a:cs typeface="Arial"/>
              </a:defRPr>
            </a:lvl2pPr>
            <a:lvl3pPr>
              <a:defRPr sz="1650" b="0">
                <a:solidFill>
                  <a:srgbClr val="18372C"/>
                </a:solidFill>
                <a:latin typeface="Arial"/>
                <a:ea typeface="Arial"/>
                <a:cs typeface="Arial"/>
              </a:defRPr>
            </a:lvl3pPr>
            <a:lvl4pPr>
              <a:defRPr sz="1650" b="0">
                <a:solidFill>
                  <a:srgbClr val="18372C"/>
                </a:solidFill>
                <a:latin typeface="Arial"/>
                <a:ea typeface="Arial"/>
                <a:cs typeface="Arial"/>
              </a:defRPr>
            </a:lvl4pPr>
            <a:lvl5pPr>
              <a:defRPr sz="1650" b="0">
                <a:solidFill>
                  <a:srgbClr val="18372C"/>
                </a:solidFill>
                <a:latin typeface="Arial"/>
                <a:ea typeface="Arial"/>
                <a:cs typeface="Arial"/>
              </a:defRPr>
            </a:lvl5pPr>
            <a:lvl6pPr>
              <a:defRPr sz="1650" b="0">
                <a:solidFill>
                  <a:srgbClr val="18372C"/>
                </a:solidFill>
                <a:latin typeface="Arial"/>
                <a:ea typeface="Arial"/>
                <a:cs typeface="Arial"/>
              </a:defRPr>
            </a:lvl6pPr>
            <a:lvl7pPr>
              <a:defRPr sz="1650" b="0">
                <a:solidFill>
                  <a:srgbClr val="18372C"/>
                </a:solidFill>
                <a:latin typeface="Arial"/>
                <a:ea typeface="Arial"/>
                <a:cs typeface="Arial"/>
              </a:defRPr>
            </a:lvl7pPr>
            <a:lvl8pPr>
              <a:defRPr sz="1650" b="0">
                <a:solidFill>
                  <a:srgbClr val="18372C"/>
                </a:solidFill>
                <a:latin typeface="Arial"/>
                <a:ea typeface="Arial"/>
                <a:cs typeface="Arial"/>
              </a:defRPr>
            </a:lvl8pPr>
            <a:lvl9pPr>
              <a:defRPr sz="1650" b="0">
                <a:solidFill>
                  <a:srgbClr val="18372C"/>
                </a:solidFill>
                <a:latin typeface="Arial"/>
                <a:ea typeface="Arial"/>
                <a:cs typeface="Arial"/>
              </a:defRPr>
            </a:lvl9pPr>
          </a:lstStyle>
          <a:p xmlns:a="http://schemas.openxmlformats.org/drawingml/2006/main">
            <a:pPr>
              <a:defRPr sz="1650" b="0">
                <a:solidFill>
                  <a:srgbClr val="18372C"/>
                </a:solidFill>
                <a:latin typeface="Arial"/>
                <a:ea typeface="Arial"/>
                <a:cs typeface="Arial"/>
              </a:defRPr>
            </a:pPr>
            <a:r>
              <a:rPr sz="1650" b="0">
                <a:solidFill>
                  <a:srgbClr val="18372C"/>
                </a:solidFill>
                <a:latin typeface="Arial"/>
                <a:ea typeface="Arial"/>
                <a:cs typeface="Arial"/>
              </a:rPr>
              <a:t>id: int?</a:t>
            </a:r>
          </a:p>
          <a:p xmlns:a="http://schemas.openxmlformats.org/drawingml/2006/main">
            <a:pPr>
              <a:defRPr sz="1650" b="0">
                <a:solidFill>
                  <a:srgbClr val="18372C"/>
                </a:solidFill>
                <a:latin typeface="Arial"/>
                <a:ea typeface="Arial"/>
                <a:cs typeface="Arial"/>
              </a:defRPr>
            </a:pPr>
            <a:r>
              <a:rPr sz="1650" b="0">
                <a:solidFill>
                  <a:srgbClr val="18372C"/>
                </a:solidFill>
                <a:latin typeface="Arial"/>
                <a:ea typeface="Arial"/>
                <a:cs typeface="Arial"/>
              </a:rPr>
              <a:t>habitId: int</a:t>
            </a:r>
          </a:p>
          <a:p xmlns:a="http://schemas.openxmlformats.org/drawingml/2006/main">
            <a:pPr>
              <a:defRPr sz="1650" b="0">
                <a:solidFill>
                  <a:srgbClr val="18372C"/>
                </a:solidFill>
                <a:latin typeface="Arial"/>
                <a:ea typeface="Arial"/>
                <a:cs typeface="Arial"/>
              </a:defRPr>
            </a:pPr>
            <a:r>
              <a:rPr sz="1650" b="0">
                <a:solidFill>
                  <a:srgbClr val="18372C"/>
                </a:solidFill>
                <a:latin typeface="Arial"/>
                <a:ea typeface="Arial"/>
                <a:cs typeface="Arial"/>
              </a:rPr>
              <a:t>date: DateTime</a:t>
            </a:r>
          </a:p>
          <a:p xmlns:a="http://schemas.openxmlformats.org/drawingml/2006/main">
            <a:pPr>
              <a:defRPr sz="1650" b="0">
                <a:solidFill>
                  <a:srgbClr val="18372C"/>
                </a:solidFill>
                <a:latin typeface="Arial"/>
                <a:ea typeface="Arial"/>
                <a:cs typeface="Arial"/>
              </a:defRPr>
            </a:pPr>
            <a:r>
              <a:rPr sz="1650" b="0">
                <a:solidFill>
                  <a:srgbClr val="18372C"/>
                </a:solidFill>
                <a:latin typeface="Arial"/>
                <a:ea typeface="Arial"/>
                <a:cs typeface="Arial"/>
              </a:rPr>
              <a:t>note: String</a:t>
            </a:r>
          </a:p>
          <a:p xmlns:a="http://schemas.openxmlformats.org/drawingml/2006/main">
            <a:pPr>
              <a:defRPr sz="1650" b="0">
                <a:solidFill>
                  <a:srgbClr val="18372C"/>
                </a:solidFill>
                <a:latin typeface="Arial"/>
                <a:ea typeface="Arial"/>
                <a:cs typeface="Arial"/>
              </a:defRPr>
            </a:pPr>
            <a:r>
              <a:rPr sz="1650" b="0">
                <a:solidFill>
                  <a:srgbClr val="18372C"/>
                </a:solidFill>
                <a:latin typeface="Arial"/>
                <a:ea typeface="Arial"/>
                <a:cs typeface="Arial"/>
              </a:rPr>
              <a:t>toMap() / fromMap()</a:t>
            </a:r>
          </a:p>
        </p:txBody>
      </p:sp>
      <p:sp>
        <p:nvSpPr>
          <p:cNvPr id="10" name="">
            <a:extLst xmlns:a="http://schemas.openxmlformats.org/drawingml/2006/main">
              <a:ext uri="{FF2B5EF4-FFF2-40B4-BE49-F238E27FC236}">
                <a16:creationId xmlns:a16="http://schemas.microsoft.com/office/drawing/2014/main" id="{F6318507-FC5C-4EF5-9D97-0D134DE52D0D}"/>
              </a:ext>
            </a:extLst>
          </p:cNvPr>
          <p:cNvSpPr>
            <a:spLocks xmlns:a="http://schemas.openxmlformats.org/drawingml/2006/main" noGrp="1"/>
          </p:cNvSpPr>
          <p:nvPr/>
        </p:nvSpPr>
        <p:spPr>
          <a:xfrm xmlns:a="http://schemas.openxmlformats.org/drawingml/2006/main">
            <a:off x="3952875" y="2714625"/>
            <a:ext cx="4191000" cy="0"/>
          </a:xfrm>
          <a:prstGeom xmlns:a="http://schemas.openxmlformats.org/drawingml/2006/main" prst="line">
            <a:avLst/>
          </a:prstGeom>
          <a:ln xmlns:a="http://schemas.openxmlformats.org/drawingml/2006/main" w="19050">
            <a:solidFill>
              <a:srgbClr val="286A4B"/>
            </a:solidFill>
          </a:ln>
        </p:spPr>
      </p:sp>
      <p:sp>
        <p:nvSpPr>
          <p:cNvPr id="11" name="">
            <a:extLst xmlns:a="http://schemas.openxmlformats.org/drawingml/2006/main">
              <a:ext uri="{FF2B5EF4-FFF2-40B4-BE49-F238E27FC236}">
                <a16:creationId xmlns:a16="http://schemas.microsoft.com/office/drawing/2014/main" id="{EAAD5365-987E-403F-B7F6-2A84B76A064E}"/>
              </a:ext>
            </a:extLst>
          </p:cNvPr>
          <p:cNvSpPr>
            <a:spLocks xmlns:a="http://schemas.openxmlformats.org/drawingml/2006/main" noGrp="1"/>
          </p:cNvSpPr>
          <p:nvPr/>
        </p:nvSpPr>
        <p:spPr>
          <a:xfrm xmlns:a="http://schemas.openxmlformats.org/drawingml/2006/main">
            <a:off x="4238625" y="223837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8372C"/>
                </a:solidFill>
                <a:latin typeface="Arial"/>
                <a:ea typeface="Arial"/>
                <a:cs typeface="Arial"/>
              </a:defRPr>
            </a:defPPr>
            <a:lvl1pPr>
              <a:defRPr sz="1800" b="0">
                <a:solidFill>
                  <a:srgbClr val="18372C"/>
                </a:solidFill>
                <a:latin typeface="Arial"/>
                <a:ea typeface="Arial"/>
                <a:cs typeface="Arial"/>
              </a:defRPr>
            </a:lvl1pPr>
            <a:lvl2pPr>
              <a:defRPr sz="1800" b="0">
                <a:solidFill>
                  <a:srgbClr val="18372C"/>
                </a:solidFill>
                <a:latin typeface="Arial"/>
                <a:ea typeface="Arial"/>
                <a:cs typeface="Arial"/>
              </a:defRPr>
            </a:lvl2pPr>
            <a:lvl3pPr>
              <a:defRPr sz="1800" b="0">
                <a:solidFill>
                  <a:srgbClr val="18372C"/>
                </a:solidFill>
                <a:latin typeface="Arial"/>
                <a:ea typeface="Arial"/>
                <a:cs typeface="Arial"/>
              </a:defRPr>
            </a:lvl3pPr>
            <a:lvl4pPr>
              <a:defRPr sz="1800" b="0">
                <a:solidFill>
                  <a:srgbClr val="18372C"/>
                </a:solidFill>
                <a:latin typeface="Arial"/>
                <a:ea typeface="Arial"/>
                <a:cs typeface="Arial"/>
              </a:defRPr>
            </a:lvl4pPr>
            <a:lvl5pPr>
              <a:defRPr sz="1800" b="0">
                <a:solidFill>
                  <a:srgbClr val="18372C"/>
                </a:solidFill>
                <a:latin typeface="Arial"/>
                <a:ea typeface="Arial"/>
                <a:cs typeface="Arial"/>
              </a:defRPr>
            </a:lvl5pPr>
            <a:lvl6pPr>
              <a:defRPr sz="1800" b="0">
                <a:solidFill>
                  <a:srgbClr val="18372C"/>
                </a:solidFill>
                <a:latin typeface="Arial"/>
                <a:ea typeface="Arial"/>
                <a:cs typeface="Arial"/>
              </a:defRPr>
            </a:lvl6pPr>
            <a:lvl7pPr>
              <a:defRPr sz="1800" b="0">
                <a:solidFill>
                  <a:srgbClr val="18372C"/>
                </a:solidFill>
                <a:latin typeface="Arial"/>
                <a:ea typeface="Arial"/>
                <a:cs typeface="Arial"/>
              </a:defRPr>
            </a:lvl7pPr>
            <a:lvl8pPr>
              <a:defRPr sz="1800" b="0">
                <a:solidFill>
                  <a:srgbClr val="18372C"/>
                </a:solidFill>
                <a:latin typeface="Arial"/>
                <a:ea typeface="Arial"/>
                <a:cs typeface="Arial"/>
              </a:defRPr>
            </a:lvl8pPr>
            <a:lvl9pPr>
              <a:defRPr sz="1800" b="0">
                <a:solidFill>
                  <a:srgbClr val="18372C"/>
                </a:solidFill>
                <a:latin typeface="Arial"/>
                <a:ea typeface="Arial"/>
                <a:cs typeface="Arial"/>
              </a:defRPr>
            </a:lvl9pPr>
          </a:lstStyle>
          <a:p xmlns:a="http://schemas.openxmlformats.org/drawingml/2006/main">
            <a:pPr>
              <a:defRPr sz="1800" b="0">
                <a:solidFill>
                  <a:srgbClr val="18372C"/>
                </a:solidFill>
                <a:latin typeface="Arial"/>
                <a:ea typeface="Arial"/>
                <a:cs typeface="Arial"/>
              </a:defRPr>
            </a:pPr>
            <a:r>
              <a:rPr sz="1800" b="0">
                <a:solidFill>
                  <a:srgbClr val="18372C"/>
                </a:solidFill>
                <a:latin typeface="Arial"/>
                <a:ea typeface="Arial"/>
                <a:cs typeface="Arial"/>
              </a:rPr>
              <a:t>1              has              0..*</a:t>
            </a:r>
          </a:p>
        </p:txBody>
      </p:sp>
      <p:sp>
        <p:nvSpPr>
          <p:cNvPr id="12" name="">
            <a:extLst xmlns:a="http://schemas.openxmlformats.org/drawingml/2006/main">
              <a:ext uri="{FF2B5EF4-FFF2-40B4-BE49-F238E27FC236}">
                <a16:creationId xmlns:a16="http://schemas.microsoft.com/office/drawing/2014/main" id="{57B667B4-DC5B-4656-B78A-25CEFAE87324}"/>
              </a:ext>
            </a:extLst>
          </p:cNvPr>
          <p:cNvSpPr>
            <a:spLocks xmlns:a="http://schemas.openxmlformats.org/drawingml/2006/main" noGrp="1"/>
          </p:cNvSpPr>
          <p:nvPr/>
        </p:nvSpPr>
        <p:spPr>
          <a:xfrm xmlns:a="http://schemas.openxmlformats.org/drawingml/2006/main">
            <a:off x="666750" y="4619625"/>
            <a:ext cx="5143500" cy="1285875"/>
          </a:xfrm>
          <a:prstGeom xmlns:a="http://schemas.openxmlformats.org/drawingml/2006/main" prst="rect">
            <a:avLst/>
          </a:prstGeom>
          <a:solidFill xmlns:a="http://schemas.openxmlformats.org/drawingml/2006/main">
            <a:srgbClr val="FFFFFF"/>
          </a:solidFill>
          <a:ln xmlns:a="http://schemas.openxmlformats.org/drawingml/2006/main" w="19050">
            <a:solidFill>
              <a:srgbClr val="286A4B"/>
            </a:solidFill>
          </a:ln>
        </p:spPr>
      </p:sp>
      <p:sp>
        <p:nvSpPr>
          <p:cNvPr id="13" name="">
            <a:extLst xmlns:a="http://schemas.openxmlformats.org/drawingml/2006/main">
              <a:ext uri="{FF2B5EF4-FFF2-40B4-BE49-F238E27FC236}">
                <a16:creationId xmlns:a16="http://schemas.microsoft.com/office/drawing/2014/main" id="{0EF92593-27BF-40C3-BA35-C239B4AB3C89}"/>
              </a:ext>
            </a:extLst>
          </p:cNvPr>
          <p:cNvSpPr>
            <a:spLocks xmlns:a="http://schemas.openxmlformats.org/drawingml/2006/main" noGrp="1"/>
          </p:cNvSpPr>
          <p:nvPr/>
        </p:nvSpPr>
        <p:spPr>
          <a:xfrm xmlns:a="http://schemas.openxmlformats.org/drawingml/2006/main">
            <a:off x="838200" y="4743450"/>
            <a:ext cx="480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86A4B"/>
                </a:solidFill>
                <a:latin typeface="Arial"/>
                <a:ea typeface="Arial"/>
                <a:cs typeface="Arial"/>
              </a:defRPr>
            </a:defPPr>
            <a:lvl1pPr>
              <a:defRPr sz="2025" b="1">
                <a:solidFill>
                  <a:srgbClr val="286A4B"/>
                </a:solidFill>
                <a:latin typeface="Arial"/>
                <a:ea typeface="Arial"/>
                <a:cs typeface="Arial"/>
              </a:defRPr>
            </a:lvl1pPr>
            <a:lvl2pPr>
              <a:defRPr sz="2025" b="1">
                <a:solidFill>
                  <a:srgbClr val="286A4B"/>
                </a:solidFill>
                <a:latin typeface="Arial"/>
                <a:ea typeface="Arial"/>
                <a:cs typeface="Arial"/>
              </a:defRPr>
            </a:lvl2pPr>
            <a:lvl3pPr>
              <a:defRPr sz="2025" b="1">
                <a:solidFill>
                  <a:srgbClr val="286A4B"/>
                </a:solidFill>
                <a:latin typeface="Arial"/>
                <a:ea typeface="Arial"/>
                <a:cs typeface="Arial"/>
              </a:defRPr>
            </a:lvl3pPr>
            <a:lvl4pPr>
              <a:defRPr sz="2025" b="1">
                <a:solidFill>
                  <a:srgbClr val="286A4B"/>
                </a:solidFill>
                <a:latin typeface="Arial"/>
                <a:ea typeface="Arial"/>
                <a:cs typeface="Arial"/>
              </a:defRPr>
            </a:lvl4pPr>
            <a:lvl5pPr>
              <a:defRPr sz="2025" b="1">
                <a:solidFill>
                  <a:srgbClr val="286A4B"/>
                </a:solidFill>
                <a:latin typeface="Arial"/>
                <a:ea typeface="Arial"/>
                <a:cs typeface="Arial"/>
              </a:defRPr>
            </a:lvl5pPr>
            <a:lvl6pPr>
              <a:defRPr sz="2025" b="1">
                <a:solidFill>
                  <a:srgbClr val="286A4B"/>
                </a:solidFill>
                <a:latin typeface="Arial"/>
                <a:ea typeface="Arial"/>
                <a:cs typeface="Arial"/>
              </a:defRPr>
            </a:lvl6pPr>
            <a:lvl7pPr>
              <a:defRPr sz="2025" b="1">
                <a:solidFill>
                  <a:srgbClr val="286A4B"/>
                </a:solidFill>
                <a:latin typeface="Arial"/>
                <a:ea typeface="Arial"/>
                <a:cs typeface="Arial"/>
              </a:defRPr>
            </a:lvl7pPr>
            <a:lvl8pPr>
              <a:defRPr sz="2025" b="1">
                <a:solidFill>
                  <a:srgbClr val="286A4B"/>
                </a:solidFill>
                <a:latin typeface="Arial"/>
                <a:ea typeface="Arial"/>
                <a:cs typeface="Arial"/>
              </a:defRPr>
            </a:lvl8pPr>
            <a:lvl9pPr>
              <a:defRPr sz="2025" b="1">
                <a:solidFill>
                  <a:srgbClr val="286A4B"/>
                </a:solidFill>
                <a:latin typeface="Arial"/>
                <a:ea typeface="Arial"/>
                <a:cs typeface="Arial"/>
              </a:defRPr>
            </a:lvl9pPr>
          </a:lstStyle>
          <a:p xmlns:a="http://schemas.openxmlformats.org/drawingml/2006/main">
            <a:pPr>
              <a:defRPr sz="2025" b="1">
                <a:solidFill>
                  <a:srgbClr val="286A4B"/>
                </a:solidFill>
                <a:latin typeface="Arial"/>
                <a:ea typeface="Arial"/>
                <a:cs typeface="Arial"/>
              </a:defRPr>
            </a:pPr>
            <a:r>
              <a:rPr sz="2025" b="1">
                <a:solidFill>
                  <a:srgbClr val="286A4B"/>
                </a:solidFill>
                <a:latin typeface="Arial"/>
                <a:ea typeface="Arial"/>
                <a:cs typeface="Arial"/>
              </a:rPr>
              <a:t>DatabaseHelper</a:t>
            </a:r>
          </a:p>
        </p:txBody>
      </p:sp>
      <p:sp>
        <p:nvSpPr>
          <p:cNvPr id="14" name="">
            <a:extLst xmlns:a="http://schemas.openxmlformats.org/drawingml/2006/main">
              <a:ext uri="{FF2B5EF4-FFF2-40B4-BE49-F238E27FC236}">
                <a16:creationId xmlns:a16="http://schemas.microsoft.com/office/drawing/2014/main" id="{2C35FBCE-C223-4E82-A2B9-B1F4DB4D27E8}"/>
              </a:ext>
            </a:extLst>
          </p:cNvPr>
          <p:cNvSpPr>
            <a:spLocks xmlns:a="http://schemas.openxmlformats.org/drawingml/2006/main" noGrp="1"/>
          </p:cNvSpPr>
          <p:nvPr/>
        </p:nvSpPr>
        <p:spPr>
          <a:xfrm xmlns:a="http://schemas.openxmlformats.org/drawingml/2006/main">
            <a:off x="838200" y="5238750"/>
            <a:ext cx="4800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8372C"/>
                </a:solidFill>
                <a:latin typeface="Arial"/>
                <a:ea typeface="Arial"/>
                <a:cs typeface="Arial"/>
              </a:defRPr>
            </a:defPPr>
            <a:lvl1pPr>
              <a:defRPr sz="1650" b="0">
                <a:solidFill>
                  <a:srgbClr val="18372C"/>
                </a:solidFill>
                <a:latin typeface="Arial"/>
                <a:ea typeface="Arial"/>
                <a:cs typeface="Arial"/>
              </a:defRPr>
            </a:lvl1pPr>
            <a:lvl2pPr>
              <a:defRPr sz="1650" b="0">
                <a:solidFill>
                  <a:srgbClr val="18372C"/>
                </a:solidFill>
                <a:latin typeface="Arial"/>
                <a:ea typeface="Arial"/>
                <a:cs typeface="Arial"/>
              </a:defRPr>
            </a:lvl2pPr>
            <a:lvl3pPr>
              <a:defRPr sz="1650" b="0">
                <a:solidFill>
                  <a:srgbClr val="18372C"/>
                </a:solidFill>
                <a:latin typeface="Arial"/>
                <a:ea typeface="Arial"/>
                <a:cs typeface="Arial"/>
              </a:defRPr>
            </a:lvl3pPr>
            <a:lvl4pPr>
              <a:defRPr sz="1650" b="0">
                <a:solidFill>
                  <a:srgbClr val="18372C"/>
                </a:solidFill>
                <a:latin typeface="Arial"/>
                <a:ea typeface="Arial"/>
                <a:cs typeface="Arial"/>
              </a:defRPr>
            </a:lvl4pPr>
            <a:lvl5pPr>
              <a:defRPr sz="1650" b="0">
                <a:solidFill>
                  <a:srgbClr val="18372C"/>
                </a:solidFill>
                <a:latin typeface="Arial"/>
                <a:ea typeface="Arial"/>
                <a:cs typeface="Arial"/>
              </a:defRPr>
            </a:lvl5pPr>
            <a:lvl6pPr>
              <a:defRPr sz="1650" b="0">
                <a:solidFill>
                  <a:srgbClr val="18372C"/>
                </a:solidFill>
                <a:latin typeface="Arial"/>
                <a:ea typeface="Arial"/>
                <a:cs typeface="Arial"/>
              </a:defRPr>
            </a:lvl6pPr>
            <a:lvl7pPr>
              <a:defRPr sz="1650" b="0">
                <a:solidFill>
                  <a:srgbClr val="18372C"/>
                </a:solidFill>
                <a:latin typeface="Arial"/>
                <a:ea typeface="Arial"/>
                <a:cs typeface="Arial"/>
              </a:defRPr>
            </a:lvl7pPr>
            <a:lvl8pPr>
              <a:defRPr sz="1650" b="0">
                <a:solidFill>
                  <a:srgbClr val="18372C"/>
                </a:solidFill>
                <a:latin typeface="Arial"/>
                <a:ea typeface="Arial"/>
                <a:cs typeface="Arial"/>
              </a:defRPr>
            </a:lvl8pPr>
            <a:lvl9pPr>
              <a:defRPr sz="1650" b="0">
                <a:solidFill>
                  <a:srgbClr val="18372C"/>
                </a:solidFill>
                <a:latin typeface="Arial"/>
                <a:ea typeface="Arial"/>
                <a:cs typeface="Arial"/>
              </a:defRPr>
            </a:lvl9pPr>
          </a:lstStyle>
          <a:p xmlns:a="http://schemas.openxmlformats.org/drawingml/2006/main">
            <a:pPr>
              <a:defRPr sz="1650" b="0">
                <a:solidFill>
                  <a:srgbClr val="18372C"/>
                </a:solidFill>
                <a:latin typeface="Arial"/>
                <a:ea typeface="Arial"/>
                <a:cs typeface="Arial"/>
              </a:defRPr>
            </a:pPr>
            <a:r>
              <a:rPr sz="1650" b="0">
                <a:solidFill>
                  <a:srgbClr val="18372C"/>
                </a:solidFill>
                <a:latin typeface="Arial"/>
                <a:ea typeface="Arial"/>
                <a:cs typeface="Arial"/>
              </a:rPr>
              <a:t>Habit and CheckIn CRUD</a:t>
            </a:r>
          </a:p>
          <a:p xmlns:a="http://schemas.openxmlformats.org/drawingml/2006/main">
            <a:pPr>
              <a:defRPr sz="1650" b="0">
                <a:solidFill>
                  <a:srgbClr val="18372C"/>
                </a:solidFill>
                <a:latin typeface="Arial"/>
                <a:ea typeface="Arial"/>
                <a:cs typeface="Arial"/>
              </a:defRPr>
            </a:pPr>
            <a:r>
              <a:rPr sz="1650" b="0">
                <a:solidFill>
                  <a:srgbClr val="18372C"/>
                </a:solidFill>
                <a:latin typeface="Arial"/>
                <a:ea typeface="Arial"/>
                <a:cs typeface="Arial"/>
              </a:rPr>
              <a:t>startWeek() / finishWeek() / resetWeek()</a:t>
            </a:r>
          </a:p>
        </p:txBody>
      </p:sp>
      <p:sp>
        <p:nvSpPr>
          <p:cNvPr id="15" name="">
            <a:extLst xmlns:a="http://schemas.openxmlformats.org/drawingml/2006/main">
              <a:ext uri="{FF2B5EF4-FFF2-40B4-BE49-F238E27FC236}">
                <a16:creationId xmlns:a16="http://schemas.microsoft.com/office/drawing/2014/main" id="{3F5844A0-23E1-4032-8051-A4E0E7ACF88A}"/>
              </a:ext>
            </a:extLst>
          </p:cNvPr>
          <p:cNvSpPr>
            <a:spLocks xmlns:a="http://schemas.openxmlformats.org/drawingml/2006/main" noGrp="1"/>
          </p:cNvSpPr>
          <p:nvPr/>
        </p:nvSpPr>
        <p:spPr>
          <a:xfrm xmlns:a="http://schemas.openxmlformats.org/drawingml/2006/main">
            <a:off x="6286500" y="4619625"/>
            <a:ext cx="5143500" cy="1285875"/>
          </a:xfrm>
          <a:prstGeom xmlns:a="http://schemas.openxmlformats.org/drawingml/2006/main" prst="rect">
            <a:avLst/>
          </a:prstGeom>
          <a:solidFill xmlns:a="http://schemas.openxmlformats.org/drawingml/2006/main">
            <a:srgbClr val="FFFFFF"/>
          </a:solidFill>
          <a:ln xmlns:a="http://schemas.openxmlformats.org/drawingml/2006/main" w="19050">
            <a:solidFill>
              <a:srgbClr val="286A4B"/>
            </a:solidFill>
          </a:ln>
        </p:spPr>
      </p:sp>
      <p:sp>
        <p:nvSpPr>
          <p:cNvPr id="16" name="">
            <a:extLst xmlns:a="http://schemas.openxmlformats.org/drawingml/2006/main">
              <a:ext uri="{FF2B5EF4-FFF2-40B4-BE49-F238E27FC236}">
                <a16:creationId xmlns:a16="http://schemas.microsoft.com/office/drawing/2014/main" id="{41787EC9-B762-43DC-91DD-B6A2D0F49D0B}"/>
              </a:ext>
            </a:extLst>
          </p:cNvPr>
          <p:cNvSpPr>
            <a:spLocks xmlns:a="http://schemas.openxmlformats.org/drawingml/2006/main" noGrp="1"/>
          </p:cNvSpPr>
          <p:nvPr/>
        </p:nvSpPr>
        <p:spPr>
          <a:xfrm xmlns:a="http://schemas.openxmlformats.org/drawingml/2006/main">
            <a:off x="6457950" y="4743450"/>
            <a:ext cx="480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86A4B"/>
                </a:solidFill>
                <a:latin typeface="Arial"/>
                <a:ea typeface="Arial"/>
                <a:cs typeface="Arial"/>
              </a:defRPr>
            </a:defPPr>
            <a:lvl1pPr>
              <a:defRPr sz="2025" b="1">
                <a:solidFill>
                  <a:srgbClr val="286A4B"/>
                </a:solidFill>
                <a:latin typeface="Arial"/>
                <a:ea typeface="Arial"/>
                <a:cs typeface="Arial"/>
              </a:defRPr>
            </a:lvl1pPr>
            <a:lvl2pPr>
              <a:defRPr sz="2025" b="1">
                <a:solidFill>
                  <a:srgbClr val="286A4B"/>
                </a:solidFill>
                <a:latin typeface="Arial"/>
                <a:ea typeface="Arial"/>
                <a:cs typeface="Arial"/>
              </a:defRPr>
            </a:lvl2pPr>
            <a:lvl3pPr>
              <a:defRPr sz="2025" b="1">
                <a:solidFill>
                  <a:srgbClr val="286A4B"/>
                </a:solidFill>
                <a:latin typeface="Arial"/>
                <a:ea typeface="Arial"/>
                <a:cs typeface="Arial"/>
              </a:defRPr>
            </a:lvl3pPr>
            <a:lvl4pPr>
              <a:defRPr sz="2025" b="1">
                <a:solidFill>
                  <a:srgbClr val="286A4B"/>
                </a:solidFill>
                <a:latin typeface="Arial"/>
                <a:ea typeface="Arial"/>
                <a:cs typeface="Arial"/>
              </a:defRPr>
            </a:lvl4pPr>
            <a:lvl5pPr>
              <a:defRPr sz="2025" b="1">
                <a:solidFill>
                  <a:srgbClr val="286A4B"/>
                </a:solidFill>
                <a:latin typeface="Arial"/>
                <a:ea typeface="Arial"/>
                <a:cs typeface="Arial"/>
              </a:defRPr>
            </a:lvl5pPr>
            <a:lvl6pPr>
              <a:defRPr sz="2025" b="1">
                <a:solidFill>
                  <a:srgbClr val="286A4B"/>
                </a:solidFill>
                <a:latin typeface="Arial"/>
                <a:ea typeface="Arial"/>
                <a:cs typeface="Arial"/>
              </a:defRPr>
            </a:lvl6pPr>
            <a:lvl7pPr>
              <a:defRPr sz="2025" b="1">
                <a:solidFill>
                  <a:srgbClr val="286A4B"/>
                </a:solidFill>
                <a:latin typeface="Arial"/>
                <a:ea typeface="Arial"/>
                <a:cs typeface="Arial"/>
              </a:defRPr>
            </a:lvl7pPr>
            <a:lvl8pPr>
              <a:defRPr sz="2025" b="1">
                <a:solidFill>
                  <a:srgbClr val="286A4B"/>
                </a:solidFill>
                <a:latin typeface="Arial"/>
                <a:ea typeface="Arial"/>
                <a:cs typeface="Arial"/>
              </a:defRPr>
            </a:lvl8pPr>
            <a:lvl9pPr>
              <a:defRPr sz="2025" b="1">
                <a:solidFill>
                  <a:srgbClr val="286A4B"/>
                </a:solidFill>
                <a:latin typeface="Arial"/>
                <a:ea typeface="Arial"/>
                <a:cs typeface="Arial"/>
              </a:defRPr>
            </a:lvl9pPr>
          </a:lstStyle>
          <a:p xmlns:a="http://schemas.openxmlformats.org/drawingml/2006/main">
            <a:pPr>
              <a:defRPr sz="2025" b="1">
                <a:solidFill>
                  <a:srgbClr val="286A4B"/>
                </a:solidFill>
                <a:latin typeface="Arial"/>
                <a:ea typeface="Arial"/>
                <a:cs typeface="Arial"/>
              </a:defRPr>
            </a:pPr>
            <a:r>
              <a:rPr sz="2025" b="1">
                <a:solidFill>
                  <a:srgbClr val="286A4B"/>
                </a:solidFill>
                <a:latin typeface="Arial"/>
                <a:ea typeface="Arial"/>
                <a:cs typeface="Arial"/>
              </a:rPr>
              <a:t>GardenGuide</a:t>
            </a:r>
          </a:p>
        </p:txBody>
      </p:sp>
      <p:sp>
        <p:nvSpPr>
          <p:cNvPr id="17" name="">
            <a:extLst xmlns:a="http://schemas.openxmlformats.org/drawingml/2006/main">
              <a:ext uri="{FF2B5EF4-FFF2-40B4-BE49-F238E27FC236}">
                <a16:creationId xmlns:a16="http://schemas.microsoft.com/office/drawing/2014/main" id="{D5CE6FD6-CCF7-4494-9873-0EF3C34DC521}"/>
              </a:ext>
            </a:extLst>
          </p:cNvPr>
          <p:cNvSpPr>
            <a:spLocks xmlns:a="http://schemas.openxmlformats.org/drawingml/2006/main" noGrp="1"/>
          </p:cNvSpPr>
          <p:nvPr/>
        </p:nvSpPr>
        <p:spPr>
          <a:xfrm xmlns:a="http://schemas.openxmlformats.org/drawingml/2006/main">
            <a:off x="6457950" y="5238750"/>
            <a:ext cx="4800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8372C"/>
                </a:solidFill>
                <a:latin typeface="Arial"/>
                <a:ea typeface="Arial"/>
                <a:cs typeface="Arial"/>
              </a:defRPr>
            </a:defPPr>
            <a:lvl1pPr>
              <a:defRPr sz="1650" b="0">
                <a:solidFill>
                  <a:srgbClr val="18372C"/>
                </a:solidFill>
                <a:latin typeface="Arial"/>
                <a:ea typeface="Arial"/>
                <a:cs typeface="Arial"/>
              </a:defRPr>
            </a:lvl1pPr>
            <a:lvl2pPr>
              <a:defRPr sz="1650" b="0">
                <a:solidFill>
                  <a:srgbClr val="18372C"/>
                </a:solidFill>
                <a:latin typeface="Arial"/>
                <a:ea typeface="Arial"/>
                <a:cs typeface="Arial"/>
              </a:defRPr>
            </a:lvl2pPr>
            <a:lvl3pPr>
              <a:defRPr sz="1650" b="0">
                <a:solidFill>
                  <a:srgbClr val="18372C"/>
                </a:solidFill>
                <a:latin typeface="Arial"/>
                <a:ea typeface="Arial"/>
                <a:cs typeface="Arial"/>
              </a:defRPr>
            </a:lvl3pPr>
            <a:lvl4pPr>
              <a:defRPr sz="1650" b="0">
                <a:solidFill>
                  <a:srgbClr val="18372C"/>
                </a:solidFill>
                <a:latin typeface="Arial"/>
                <a:ea typeface="Arial"/>
                <a:cs typeface="Arial"/>
              </a:defRPr>
            </a:lvl4pPr>
            <a:lvl5pPr>
              <a:defRPr sz="1650" b="0">
                <a:solidFill>
                  <a:srgbClr val="18372C"/>
                </a:solidFill>
                <a:latin typeface="Arial"/>
                <a:ea typeface="Arial"/>
                <a:cs typeface="Arial"/>
              </a:defRPr>
            </a:lvl5pPr>
            <a:lvl6pPr>
              <a:defRPr sz="1650" b="0">
                <a:solidFill>
                  <a:srgbClr val="18372C"/>
                </a:solidFill>
                <a:latin typeface="Arial"/>
                <a:ea typeface="Arial"/>
                <a:cs typeface="Arial"/>
              </a:defRPr>
            </a:lvl6pPr>
            <a:lvl7pPr>
              <a:defRPr sz="1650" b="0">
                <a:solidFill>
                  <a:srgbClr val="18372C"/>
                </a:solidFill>
                <a:latin typeface="Arial"/>
                <a:ea typeface="Arial"/>
                <a:cs typeface="Arial"/>
              </a:defRPr>
            </a:lvl7pPr>
            <a:lvl8pPr>
              <a:defRPr sz="1650" b="0">
                <a:solidFill>
                  <a:srgbClr val="18372C"/>
                </a:solidFill>
                <a:latin typeface="Arial"/>
                <a:ea typeface="Arial"/>
                <a:cs typeface="Arial"/>
              </a:defRPr>
            </a:lvl8pPr>
            <a:lvl9pPr>
              <a:defRPr sz="1650" b="0">
                <a:solidFill>
                  <a:srgbClr val="18372C"/>
                </a:solidFill>
                <a:latin typeface="Arial"/>
                <a:ea typeface="Arial"/>
                <a:cs typeface="Arial"/>
              </a:defRPr>
            </a:lvl9pPr>
          </a:lstStyle>
          <a:p xmlns:a="http://schemas.openxmlformats.org/drawingml/2006/main">
            <a:pPr>
              <a:defRPr sz="1650" b="0">
                <a:solidFill>
                  <a:srgbClr val="18372C"/>
                </a:solidFill>
                <a:latin typeface="Arial"/>
                <a:ea typeface="Arial"/>
                <a:cs typeface="Arial"/>
              </a:defRPr>
            </a:pPr>
            <a:r>
              <a:rPr sz="1650" b="0">
                <a:solidFill>
                  <a:srgbClr val="18372C"/>
                </a:solidFill>
                <a:latin typeface="Arial"/>
                <a:ea typeface="Arial"/>
                <a:cs typeface="Arial"/>
              </a:rPr>
              <a:t>suggest(Habit, List&lt;CheckIn&gt;)</a:t>
            </a:r>
          </a:p>
          <a:p xmlns:a="http://schemas.openxmlformats.org/drawingml/2006/main">
            <a:pPr>
              <a:defRPr sz="1650" b="0">
                <a:solidFill>
                  <a:srgbClr val="18372C"/>
                </a:solidFill>
                <a:latin typeface="Arial"/>
                <a:ea typeface="Arial"/>
                <a:cs typeface="Arial"/>
              </a:defRPr>
            </a:pPr>
            <a:r>
              <a:rPr sz="1650" b="0">
                <a:solidFill>
                  <a:srgbClr val="18372C"/>
                </a:solidFill>
                <a:latin typeface="Arial"/>
                <a:ea typeface="Arial"/>
                <a:cs typeface="Arial"/>
              </a:rPr>
              <a:t>returns GardenGuideResult</a:t>
            </a:r>
          </a:p>
        </p:txBody>
      </p:sp>
    </p:spTree>
    <p:extLst>
      <p:ext uri="{BB962C8B-B14F-4D97-AF65-F5344CB8AC3E}">
        <p14:creationId xmlns:p14="http://schemas.microsoft.com/office/powerpoint/2010/main" val="1259849602"/>
      </p:ext>
    </p:extLst>
  </p:cSld>
  <p:transition spd="med">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animEffect transition="in" filter="fade">
                                      <p:cBhvr>
                                        <p:cTn id="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FDB962-5A2F-408D-8891-288FFA952ACD}"/>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Widget ownership and mutable state</a:t>
            </a:r>
          </a:p>
        </p:txBody>
      </p:sp>
      <p:sp>
        <p:nvSpPr>
          <p:cNvPr id="2" name="">
            <a:extLst xmlns:a="http://schemas.openxmlformats.org/drawingml/2006/main">
              <a:ext uri="{FF2B5EF4-FFF2-40B4-BE49-F238E27FC236}">
                <a16:creationId xmlns:a16="http://schemas.microsoft.com/office/drawing/2014/main" id="{D1437A4C-C0FA-4948-888C-57735CCF5080}"/>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CDB30ECD-DF45-4FB1-8B34-D49AF461944C}"/>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39C18B7A-FF16-4573-8E0A-C0E7FD881EC3}"/>
              </a:ext>
            </a:extLst>
          </p:cNvPr>
          <p:cNvSpPr>
            <a:spLocks xmlns:a="http://schemas.openxmlformats.org/drawingml/2006/main" noGrp="1"/>
          </p:cNvSpPr>
          <p:nvPr/>
        </p:nvSpPr>
        <p:spPr>
          <a:xfrm xmlns:a="http://schemas.openxmlformats.org/drawingml/2006/main">
            <a:off x="666750" y="15716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HabitTile renders values supplied by its parent.</a:t>
            </a:r>
          </a:p>
        </p:txBody>
      </p:sp>
      <p:sp>
        <p:nvSpPr>
          <p:cNvPr id="5" name="">
            <a:extLst xmlns:a="http://schemas.openxmlformats.org/drawingml/2006/main">
              <a:ext uri="{FF2B5EF4-FFF2-40B4-BE49-F238E27FC236}">
                <a16:creationId xmlns:a16="http://schemas.microsoft.com/office/drawing/2014/main" id="{29D5E978-377B-4EE1-991F-87CB8EC4D68C}"/>
              </a:ext>
            </a:extLst>
          </p:cNvPr>
          <p:cNvSpPr>
            <a:spLocks xmlns:a="http://schemas.openxmlformats.org/drawingml/2006/main" noGrp="1"/>
          </p:cNvSpPr>
          <p:nvPr/>
        </p:nvSpPr>
        <p:spPr>
          <a:xfrm xmlns:a="http://schemas.openxmlformats.org/drawingml/2006/main">
            <a:off x="666750" y="26384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HabitGardenTabs owns tab selection and shared lists.</a:t>
            </a:r>
          </a:p>
        </p:txBody>
      </p:sp>
      <p:sp>
        <p:nvSpPr>
          <p:cNvPr id="6" name="">
            <a:extLst xmlns:a="http://schemas.openxmlformats.org/drawingml/2006/main">
              <a:ext uri="{FF2B5EF4-FFF2-40B4-BE49-F238E27FC236}">
                <a16:creationId xmlns:a16="http://schemas.microsoft.com/office/drawing/2014/main" id="{9C7A3509-7D70-491F-B13E-B2A8303961BB}"/>
              </a:ext>
            </a:extLst>
          </p:cNvPr>
          <p:cNvSpPr>
            <a:spLocks xmlns:a="http://schemas.openxmlformats.org/drawingml/2006/main" noGrp="1"/>
          </p:cNvSpPr>
          <p:nvPr/>
        </p:nvSpPr>
        <p:spPr>
          <a:xfrm xmlns:a="http://schemas.openxmlformats.org/drawingml/2006/main">
            <a:off x="666750" y="37052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A tab interaction changes state, then build renders it.</a:t>
            </a:r>
          </a:p>
        </p:txBody>
      </p:sp>
      <p:sp>
        <p:nvSpPr>
          <p:cNvPr id="7" name="">
            <a:extLst xmlns:a="http://schemas.openxmlformats.org/drawingml/2006/main">
              <a:ext uri="{FF2B5EF4-FFF2-40B4-BE49-F238E27FC236}">
                <a16:creationId xmlns:a16="http://schemas.microsoft.com/office/drawing/2014/main" id="{6287F7B8-D2A4-4CA1-8C29-B57E7DFA96A1}"/>
              </a:ext>
            </a:extLst>
          </p:cNvPr>
          <p:cNvSpPr>
            <a:spLocks xmlns:a="http://schemas.openxmlformats.org/drawingml/2006/main" noGrp="1"/>
          </p:cNvSpPr>
          <p:nvPr/>
        </p:nvSpPr>
        <p:spPr>
          <a:xfrm xmlns:a="http://schemas.openxmlformats.org/drawingml/2006/main">
            <a:off x="5762625" y="147637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286A4B"/>
                </a:solidFill>
                <a:latin typeface="Arial"/>
                <a:ea typeface="Arial"/>
                <a:cs typeface="Arial"/>
              </a:defRPr>
            </a:defPPr>
            <a:lvl1pPr>
              <a:defRPr sz="1500" b="1">
                <a:solidFill>
                  <a:srgbClr val="286A4B"/>
                </a:solidFill>
                <a:latin typeface="Arial"/>
                <a:ea typeface="Arial"/>
                <a:cs typeface="Arial"/>
              </a:defRPr>
            </a:lvl1pPr>
            <a:lvl2pPr>
              <a:defRPr sz="1500" b="1">
                <a:solidFill>
                  <a:srgbClr val="286A4B"/>
                </a:solidFill>
                <a:latin typeface="Arial"/>
                <a:ea typeface="Arial"/>
                <a:cs typeface="Arial"/>
              </a:defRPr>
            </a:lvl2pPr>
            <a:lvl3pPr>
              <a:defRPr sz="1500" b="1">
                <a:solidFill>
                  <a:srgbClr val="286A4B"/>
                </a:solidFill>
                <a:latin typeface="Arial"/>
                <a:ea typeface="Arial"/>
                <a:cs typeface="Arial"/>
              </a:defRPr>
            </a:lvl3pPr>
            <a:lvl4pPr>
              <a:defRPr sz="1500" b="1">
                <a:solidFill>
                  <a:srgbClr val="286A4B"/>
                </a:solidFill>
                <a:latin typeface="Arial"/>
                <a:ea typeface="Arial"/>
                <a:cs typeface="Arial"/>
              </a:defRPr>
            </a:lvl4pPr>
            <a:lvl5pPr>
              <a:defRPr sz="1500" b="1">
                <a:solidFill>
                  <a:srgbClr val="286A4B"/>
                </a:solidFill>
                <a:latin typeface="Arial"/>
                <a:ea typeface="Arial"/>
                <a:cs typeface="Arial"/>
              </a:defRPr>
            </a:lvl5pPr>
            <a:lvl6pPr>
              <a:defRPr sz="1500" b="1">
                <a:solidFill>
                  <a:srgbClr val="286A4B"/>
                </a:solidFill>
                <a:latin typeface="Arial"/>
                <a:ea typeface="Arial"/>
                <a:cs typeface="Arial"/>
              </a:defRPr>
            </a:lvl6pPr>
            <a:lvl7pPr>
              <a:defRPr sz="1500" b="1">
                <a:solidFill>
                  <a:srgbClr val="286A4B"/>
                </a:solidFill>
                <a:latin typeface="Arial"/>
                <a:ea typeface="Arial"/>
                <a:cs typeface="Arial"/>
              </a:defRPr>
            </a:lvl7pPr>
            <a:lvl8pPr>
              <a:defRPr sz="1500" b="1">
                <a:solidFill>
                  <a:srgbClr val="286A4B"/>
                </a:solidFill>
                <a:latin typeface="Arial"/>
                <a:ea typeface="Arial"/>
                <a:cs typeface="Arial"/>
              </a:defRPr>
            </a:lvl8pPr>
            <a:lvl9pPr>
              <a:defRPr sz="1500" b="1">
                <a:solidFill>
                  <a:srgbClr val="286A4B"/>
                </a:solidFill>
                <a:latin typeface="Arial"/>
                <a:ea typeface="Arial"/>
                <a:cs typeface="Arial"/>
              </a:defRPr>
            </a:lvl9pPr>
          </a:lstStyle>
          <a:p xmlns:a="http://schemas.openxmlformats.org/drawingml/2006/main">
            <a:pPr>
              <a:defRPr sz="1500" b="1">
                <a:solidFill>
                  <a:srgbClr val="286A4B"/>
                </a:solidFill>
                <a:latin typeface="Arial"/>
                <a:ea typeface="Arial"/>
                <a:cs typeface="Arial"/>
              </a:defRPr>
            </a:pPr>
            <a:r>
              <a:rPr sz="1500" b="1">
                <a:solidFill>
                  <a:srgbClr val="286A4B"/>
                </a:solidFill>
                <a:latin typeface="Arial"/>
                <a:ea typeface="Arial"/>
                <a:cs typeface="Arial"/>
              </a:rPr>
              <a:t>Source excerpt, shortened</a:t>
            </a:r>
          </a:p>
        </p:txBody>
      </p:sp>
      <p:sp>
        <p:nvSpPr>
          <p:cNvPr id="8" name="">
            <a:extLst xmlns:a="http://schemas.openxmlformats.org/drawingml/2006/main">
              <a:ext uri="{FF2B5EF4-FFF2-40B4-BE49-F238E27FC236}">
                <a16:creationId xmlns:a16="http://schemas.microsoft.com/office/drawing/2014/main" id="{F854AC2A-D97D-4EEB-9937-6AED5ABF941F}"/>
              </a:ext>
            </a:extLst>
          </p:cNvPr>
          <p:cNvSpPr>
            <a:spLocks xmlns:a="http://schemas.openxmlformats.org/drawingml/2006/main" noGrp="1"/>
          </p:cNvSpPr>
          <p:nvPr/>
        </p:nvSpPr>
        <p:spPr>
          <a:xfrm xmlns:a="http://schemas.openxmlformats.org/drawingml/2006/main">
            <a:off x="5762625" y="2000250"/>
            <a:ext cx="5810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72C"/>
                </a:solidFill>
                <a:latin typeface="Courier New"/>
                <a:ea typeface="Courier New"/>
                <a:cs typeface="Courier New"/>
              </a:defRPr>
            </a:defPPr>
            <a:lvl1pPr>
              <a:defRPr sz="1725" b="0">
                <a:solidFill>
                  <a:srgbClr val="18372C"/>
                </a:solidFill>
                <a:latin typeface="Courier New"/>
                <a:ea typeface="Courier New"/>
                <a:cs typeface="Courier New"/>
              </a:defRPr>
            </a:lvl1pPr>
            <a:lvl2pPr>
              <a:defRPr sz="1725" b="0">
                <a:solidFill>
                  <a:srgbClr val="18372C"/>
                </a:solidFill>
                <a:latin typeface="Courier New"/>
                <a:ea typeface="Courier New"/>
                <a:cs typeface="Courier New"/>
              </a:defRPr>
            </a:lvl2pPr>
            <a:lvl3pPr>
              <a:defRPr sz="1725" b="0">
                <a:solidFill>
                  <a:srgbClr val="18372C"/>
                </a:solidFill>
                <a:latin typeface="Courier New"/>
                <a:ea typeface="Courier New"/>
                <a:cs typeface="Courier New"/>
              </a:defRPr>
            </a:lvl3pPr>
            <a:lvl4pPr>
              <a:defRPr sz="1725" b="0">
                <a:solidFill>
                  <a:srgbClr val="18372C"/>
                </a:solidFill>
                <a:latin typeface="Courier New"/>
                <a:ea typeface="Courier New"/>
                <a:cs typeface="Courier New"/>
              </a:defRPr>
            </a:lvl4pPr>
            <a:lvl5pPr>
              <a:defRPr sz="1725" b="0">
                <a:solidFill>
                  <a:srgbClr val="18372C"/>
                </a:solidFill>
                <a:latin typeface="Courier New"/>
                <a:ea typeface="Courier New"/>
                <a:cs typeface="Courier New"/>
              </a:defRPr>
            </a:lvl5pPr>
            <a:lvl6pPr>
              <a:defRPr sz="1725" b="0">
                <a:solidFill>
                  <a:srgbClr val="18372C"/>
                </a:solidFill>
                <a:latin typeface="Courier New"/>
                <a:ea typeface="Courier New"/>
                <a:cs typeface="Courier New"/>
              </a:defRPr>
            </a:lvl6pPr>
            <a:lvl7pPr>
              <a:defRPr sz="1725" b="0">
                <a:solidFill>
                  <a:srgbClr val="18372C"/>
                </a:solidFill>
                <a:latin typeface="Courier New"/>
                <a:ea typeface="Courier New"/>
                <a:cs typeface="Courier New"/>
              </a:defRPr>
            </a:lvl7pPr>
            <a:lvl8pPr>
              <a:defRPr sz="1725" b="0">
                <a:solidFill>
                  <a:srgbClr val="18372C"/>
                </a:solidFill>
                <a:latin typeface="Courier New"/>
                <a:ea typeface="Courier New"/>
                <a:cs typeface="Courier New"/>
              </a:defRPr>
            </a:lvl8pPr>
            <a:lvl9pPr>
              <a:defRPr sz="1725" b="0">
                <a:solidFill>
                  <a:srgbClr val="18372C"/>
                </a:solidFill>
                <a:latin typeface="Courier New"/>
                <a:ea typeface="Courier New"/>
                <a:cs typeface="Courier New"/>
              </a:defRPr>
            </a:lvl9pPr>
          </a:lstStyle>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class HabitTile extends StatelessWidget {</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final String title;</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final int completedDays;</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 Values arrive through constructor.</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a:t>
            </a:r>
          </a:p>
          <a:p xmlns:a="http://schemas.openxmlformats.org/drawingml/2006/main">
            <a:r>
              <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onDestinationSelected: (int index) {</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setState(() {</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_selectedIndex = index;</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a:t>
            </a:r>
          </a:p>
        </p:txBody>
      </p:sp>
    </p:spTree>
    <p:extLst>
      <p:ext uri="{BB962C8B-B14F-4D97-AF65-F5344CB8AC3E}">
        <p14:creationId xmlns:p14="http://schemas.microsoft.com/office/powerpoint/2010/main" val="431334898"/>
      </p:ext>
    </p:extLst>
  </p:cSld>
  <p:transition spd="med">
    <p:fade/>
  </p:transition>
</p:sld>
</file>

<file path=ppt/slides/slide6.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261D51-B01A-44E0-BAAE-846DC246F268}"/>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Controls, validation, and saved values</a:t>
            </a:r>
          </a:p>
        </p:txBody>
      </p:sp>
      <p:sp>
        <p:nvSpPr>
          <p:cNvPr id="2" name="">
            <a:extLst xmlns:a="http://schemas.openxmlformats.org/drawingml/2006/main">
              <a:ext uri="{FF2B5EF4-FFF2-40B4-BE49-F238E27FC236}">
                <a16:creationId xmlns:a16="http://schemas.microsoft.com/office/drawing/2014/main" id="{5F42E391-8849-46D9-93E0-58B1721D6A46}"/>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B296A238-9F25-43A1-930B-D4F4A48F4CAF}"/>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A07FEE3F-9F56-4524-925B-7136016B0FE8}"/>
              </a:ext>
            </a:extLst>
          </p:cNvPr>
          <p:cNvSpPr>
            <a:spLocks xmlns:a="http://schemas.openxmlformats.org/drawingml/2006/main" noGrp="1"/>
          </p:cNvSpPr>
          <p:nvPr/>
        </p:nvSpPr>
        <p:spPr>
          <a:xfrm xmlns:a="http://schemas.openxmlformats.org/drawingml/2006/main">
            <a:off x="666750" y="15716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Slider input updates the label with setState.</a:t>
            </a:r>
          </a:p>
        </p:txBody>
      </p:sp>
      <p:sp>
        <p:nvSpPr>
          <p:cNvPr id="5" name="">
            <a:extLst xmlns:a="http://schemas.openxmlformats.org/drawingml/2006/main">
              <a:ext uri="{FF2B5EF4-FFF2-40B4-BE49-F238E27FC236}">
                <a16:creationId xmlns:a16="http://schemas.microsoft.com/office/drawing/2014/main" id="{3E1BE488-E8CA-4BB8-915C-42A16680ED2C}"/>
              </a:ext>
            </a:extLst>
          </p:cNvPr>
          <p:cNvSpPr>
            <a:spLocks xmlns:a="http://schemas.openxmlformats.org/drawingml/2006/main" noGrp="1"/>
          </p:cNvSpPr>
          <p:nvPr/>
        </p:nvSpPr>
        <p:spPr>
          <a:xfrm xmlns:a="http://schemas.openxmlformats.org/drawingml/2006/main">
            <a:off x="666750" y="26384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Form and helper validation guard saved records.</a:t>
            </a:r>
          </a:p>
        </p:txBody>
      </p:sp>
      <p:sp>
        <p:nvSpPr>
          <p:cNvPr id="6" name="">
            <a:extLst xmlns:a="http://schemas.openxmlformats.org/drawingml/2006/main">
              <a:ext uri="{FF2B5EF4-FFF2-40B4-BE49-F238E27FC236}">
                <a16:creationId xmlns:a16="http://schemas.microsoft.com/office/drawing/2014/main" id="{631D214C-9A45-4B60-BD68-AB632E5E58E9}"/>
              </a:ext>
            </a:extLst>
          </p:cNvPr>
          <p:cNvSpPr>
            <a:spLocks xmlns:a="http://schemas.openxmlformats.org/drawingml/2006/main" noGrp="1"/>
          </p:cNvSpPr>
          <p:nvPr/>
        </p:nvSpPr>
        <p:spPr>
          <a:xfrm xmlns:a="http://schemas.openxmlformats.org/drawingml/2006/main">
            <a:off x="666750" y="37052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Transient: selected tab and form errors. Saved: habits and check-ins.</a:t>
            </a:r>
          </a:p>
        </p:txBody>
      </p:sp>
      <p:sp>
        <p:nvSpPr>
          <p:cNvPr id="7" name="">
            <a:extLst xmlns:a="http://schemas.openxmlformats.org/drawingml/2006/main">
              <a:ext uri="{FF2B5EF4-FFF2-40B4-BE49-F238E27FC236}">
                <a16:creationId xmlns:a16="http://schemas.microsoft.com/office/drawing/2014/main" id="{1ED9752C-04B5-4FB5-A30E-3C6DFA091448}"/>
              </a:ext>
            </a:extLst>
          </p:cNvPr>
          <p:cNvSpPr>
            <a:spLocks xmlns:a="http://schemas.openxmlformats.org/drawingml/2006/main" noGrp="1"/>
          </p:cNvSpPr>
          <p:nvPr/>
        </p:nvSpPr>
        <p:spPr>
          <a:xfrm xmlns:a="http://schemas.openxmlformats.org/drawingml/2006/main">
            <a:off x="5762625" y="147637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286A4B"/>
                </a:solidFill>
                <a:latin typeface="Arial"/>
                <a:ea typeface="Arial"/>
                <a:cs typeface="Arial"/>
              </a:defRPr>
            </a:defPPr>
            <a:lvl1pPr>
              <a:defRPr sz="1500" b="1">
                <a:solidFill>
                  <a:srgbClr val="286A4B"/>
                </a:solidFill>
                <a:latin typeface="Arial"/>
                <a:ea typeface="Arial"/>
                <a:cs typeface="Arial"/>
              </a:defRPr>
            </a:lvl1pPr>
            <a:lvl2pPr>
              <a:defRPr sz="1500" b="1">
                <a:solidFill>
                  <a:srgbClr val="286A4B"/>
                </a:solidFill>
                <a:latin typeface="Arial"/>
                <a:ea typeface="Arial"/>
                <a:cs typeface="Arial"/>
              </a:defRPr>
            </a:lvl2pPr>
            <a:lvl3pPr>
              <a:defRPr sz="1500" b="1">
                <a:solidFill>
                  <a:srgbClr val="286A4B"/>
                </a:solidFill>
                <a:latin typeface="Arial"/>
                <a:ea typeface="Arial"/>
                <a:cs typeface="Arial"/>
              </a:defRPr>
            </a:lvl3pPr>
            <a:lvl4pPr>
              <a:defRPr sz="1500" b="1">
                <a:solidFill>
                  <a:srgbClr val="286A4B"/>
                </a:solidFill>
                <a:latin typeface="Arial"/>
                <a:ea typeface="Arial"/>
                <a:cs typeface="Arial"/>
              </a:defRPr>
            </a:lvl4pPr>
            <a:lvl5pPr>
              <a:defRPr sz="1500" b="1">
                <a:solidFill>
                  <a:srgbClr val="286A4B"/>
                </a:solidFill>
                <a:latin typeface="Arial"/>
                <a:ea typeface="Arial"/>
                <a:cs typeface="Arial"/>
              </a:defRPr>
            </a:lvl5pPr>
            <a:lvl6pPr>
              <a:defRPr sz="1500" b="1">
                <a:solidFill>
                  <a:srgbClr val="286A4B"/>
                </a:solidFill>
                <a:latin typeface="Arial"/>
                <a:ea typeface="Arial"/>
                <a:cs typeface="Arial"/>
              </a:defRPr>
            </a:lvl6pPr>
            <a:lvl7pPr>
              <a:defRPr sz="1500" b="1">
                <a:solidFill>
                  <a:srgbClr val="286A4B"/>
                </a:solidFill>
                <a:latin typeface="Arial"/>
                <a:ea typeface="Arial"/>
                <a:cs typeface="Arial"/>
              </a:defRPr>
            </a:lvl7pPr>
            <a:lvl8pPr>
              <a:defRPr sz="1500" b="1">
                <a:solidFill>
                  <a:srgbClr val="286A4B"/>
                </a:solidFill>
                <a:latin typeface="Arial"/>
                <a:ea typeface="Arial"/>
                <a:cs typeface="Arial"/>
              </a:defRPr>
            </a:lvl8pPr>
            <a:lvl9pPr>
              <a:defRPr sz="1500" b="1">
                <a:solidFill>
                  <a:srgbClr val="286A4B"/>
                </a:solidFill>
                <a:latin typeface="Arial"/>
                <a:ea typeface="Arial"/>
                <a:cs typeface="Arial"/>
              </a:defRPr>
            </a:lvl9pPr>
          </a:lstStyle>
          <a:p xmlns:a="http://schemas.openxmlformats.org/drawingml/2006/main">
            <a:pPr>
              <a:defRPr sz="1500" b="1">
                <a:solidFill>
                  <a:srgbClr val="286A4B"/>
                </a:solidFill>
                <a:latin typeface="Arial"/>
                <a:ea typeface="Arial"/>
                <a:cs typeface="Arial"/>
              </a:defRPr>
            </a:pPr>
            <a:r>
              <a:rPr sz="1500" b="1">
                <a:solidFill>
                  <a:srgbClr val="286A4B"/>
                </a:solidFill>
                <a:latin typeface="Arial"/>
                <a:ea typeface="Arial"/>
                <a:cs typeface="Arial"/>
              </a:rPr>
              <a:t>Actual editor control</a:t>
            </a:r>
          </a:p>
        </p:txBody>
      </p:sp>
      <p:sp>
        <p:nvSpPr>
          <p:cNvPr id="8" name="">
            <a:extLst xmlns:a="http://schemas.openxmlformats.org/drawingml/2006/main">
              <a:ext uri="{FF2B5EF4-FFF2-40B4-BE49-F238E27FC236}">
                <a16:creationId xmlns:a16="http://schemas.microsoft.com/office/drawing/2014/main" id="{7D19D00E-598A-4624-8525-CD52343FEC2A}"/>
              </a:ext>
            </a:extLst>
          </p:cNvPr>
          <p:cNvSpPr>
            <a:spLocks xmlns:a="http://schemas.openxmlformats.org/drawingml/2006/main" noGrp="1"/>
          </p:cNvSpPr>
          <p:nvPr/>
        </p:nvSpPr>
        <p:spPr>
          <a:xfrm xmlns:a="http://schemas.openxmlformats.org/drawingml/2006/main">
            <a:off x="5762625" y="2000250"/>
            <a:ext cx="5810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72C"/>
                </a:solidFill>
                <a:latin typeface="Courier New"/>
                <a:ea typeface="Courier New"/>
                <a:cs typeface="Courier New"/>
              </a:defRPr>
            </a:defPPr>
            <a:lvl1pPr>
              <a:defRPr sz="1725" b="0">
                <a:solidFill>
                  <a:srgbClr val="18372C"/>
                </a:solidFill>
                <a:latin typeface="Courier New"/>
                <a:ea typeface="Courier New"/>
                <a:cs typeface="Courier New"/>
              </a:defRPr>
            </a:lvl1pPr>
            <a:lvl2pPr>
              <a:defRPr sz="1725" b="0">
                <a:solidFill>
                  <a:srgbClr val="18372C"/>
                </a:solidFill>
                <a:latin typeface="Courier New"/>
                <a:ea typeface="Courier New"/>
                <a:cs typeface="Courier New"/>
              </a:defRPr>
            </a:lvl2pPr>
            <a:lvl3pPr>
              <a:defRPr sz="1725" b="0">
                <a:solidFill>
                  <a:srgbClr val="18372C"/>
                </a:solidFill>
                <a:latin typeface="Courier New"/>
                <a:ea typeface="Courier New"/>
                <a:cs typeface="Courier New"/>
              </a:defRPr>
            </a:lvl3pPr>
            <a:lvl4pPr>
              <a:defRPr sz="1725" b="0">
                <a:solidFill>
                  <a:srgbClr val="18372C"/>
                </a:solidFill>
                <a:latin typeface="Courier New"/>
                <a:ea typeface="Courier New"/>
                <a:cs typeface="Courier New"/>
              </a:defRPr>
            </a:lvl4pPr>
            <a:lvl5pPr>
              <a:defRPr sz="1725" b="0">
                <a:solidFill>
                  <a:srgbClr val="18372C"/>
                </a:solidFill>
                <a:latin typeface="Courier New"/>
                <a:ea typeface="Courier New"/>
                <a:cs typeface="Courier New"/>
              </a:defRPr>
            </a:lvl5pPr>
            <a:lvl6pPr>
              <a:defRPr sz="1725" b="0">
                <a:solidFill>
                  <a:srgbClr val="18372C"/>
                </a:solidFill>
                <a:latin typeface="Courier New"/>
                <a:ea typeface="Courier New"/>
                <a:cs typeface="Courier New"/>
              </a:defRPr>
            </a:lvl6pPr>
            <a:lvl7pPr>
              <a:defRPr sz="1725" b="0">
                <a:solidFill>
                  <a:srgbClr val="18372C"/>
                </a:solidFill>
                <a:latin typeface="Courier New"/>
                <a:ea typeface="Courier New"/>
                <a:cs typeface="Courier New"/>
              </a:defRPr>
            </a:lvl7pPr>
            <a:lvl8pPr>
              <a:defRPr sz="1725" b="0">
                <a:solidFill>
                  <a:srgbClr val="18372C"/>
                </a:solidFill>
                <a:latin typeface="Courier New"/>
                <a:ea typeface="Courier New"/>
                <a:cs typeface="Courier New"/>
              </a:defRPr>
            </a:lvl8pPr>
            <a:lvl9pPr>
              <a:defRPr sz="1725" b="0">
                <a:solidFill>
                  <a:srgbClr val="18372C"/>
                </a:solidFill>
                <a:latin typeface="Courier New"/>
                <a:ea typeface="Courier New"/>
                <a:cs typeface="Courier New"/>
              </a:defRPr>
            </a:lvl9pPr>
          </a:lstStyle>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Slider(</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value: _weeklyTarget,</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min: 1,</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max: 7,</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divisions: 6,</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onChanged: (value) =&gt;</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setState(() =&gt;</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_weeklyTarget = value),</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a:t>
            </a:r>
          </a:p>
        </p:txBody>
      </p:sp>
    </p:spTree>
    <p:extLst>
      <p:ext uri="{BB962C8B-B14F-4D97-AF65-F5344CB8AC3E}">
        <p14:creationId xmlns:p14="http://schemas.microsoft.com/office/powerpoint/2010/main" val="903338958"/>
      </p:ext>
    </p:extLst>
  </p:cSld>
  <p:transition spd="med">
    <p:fade/>
  </p:transition>
</p:sld>
</file>

<file path=ppt/slides/slide7.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CD5320-C6BE-452F-8B44-4F08103F79AE}"/>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Lifecycle and state-management choice</a:t>
            </a:r>
          </a:p>
        </p:txBody>
      </p:sp>
      <p:sp>
        <p:nvSpPr>
          <p:cNvPr id="2" name="">
            <a:extLst xmlns:a="http://schemas.openxmlformats.org/drawingml/2006/main">
              <a:ext uri="{FF2B5EF4-FFF2-40B4-BE49-F238E27FC236}">
                <a16:creationId xmlns:a16="http://schemas.microsoft.com/office/drawing/2014/main" id="{A4BA77D6-971F-47FE-B84C-CA76AACCCB9A}"/>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0B0718CB-5EC9-452F-8842-4652B867AEEB}"/>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31B22278-C787-46AD-85D4-60B25A9F11CB}"/>
              </a:ext>
            </a:extLst>
          </p:cNvPr>
          <p:cNvSpPr>
            <a:spLocks xmlns:a="http://schemas.openxmlformats.org/drawingml/2006/main" noGrp="1"/>
          </p:cNvSpPr>
          <p:nvPr/>
        </p:nvSpPr>
        <p:spPr>
          <a:xfrm xmlns:a="http://schemas.openxmlformats.org/drawingml/2006/main">
            <a:off x="666750" y="15716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State owns controllers and releases them in dispose.</a:t>
            </a:r>
          </a:p>
        </p:txBody>
      </p:sp>
      <p:sp>
        <p:nvSpPr>
          <p:cNvPr id="5" name="">
            <a:extLst xmlns:a="http://schemas.openxmlformats.org/drawingml/2006/main">
              <a:ext uri="{FF2B5EF4-FFF2-40B4-BE49-F238E27FC236}">
                <a16:creationId xmlns:a16="http://schemas.microsoft.com/office/drawing/2014/main" id="{3B78788E-92A2-4D4B-8C62-941C62C72341}"/>
              </a:ext>
            </a:extLst>
          </p:cNvPr>
          <p:cNvSpPr>
            <a:spLocks xmlns:a="http://schemas.openxmlformats.org/drawingml/2006/main" noGrp="1"/>
          </p:cNvSpPr>
          <p:nvPr/>
        </p:nvSpPr>
        <p:spPr>
          <a:xfrm xmlns:a="http://schemas.openxmlformats.org/drawingml/2006/main">
            <a:off x="666750" y="26384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mounted guards UI work after an async operation.</a:t>
            </a:r>
          </a:p>
        </p:txBody>
      </p:sp>
      <p:sp>
        <p:nvSpPr>
          <p:cNvPr id="6" name="">
            <a:extLst xmlns:a="http://schemas.openxmlformats.org/drawingml/2006/main">
              <a:ext uri="{FF2B5EF4-FFF2-40B4-BE49-F238E27FC236}">
                <a16:creationId xmlns:a16="http://schemas.microsoft.com/office/drawing/2014/main" id="{BE2C2A5A-46D6-4A20-B256-B4DC0A7BC5EF}"/>
              </a:ext>
            </a:extLst>
          </p:cNvPr>
          <p:cNvSpPr>
            <a:spLocks xmlns:a="http://schemas.openxmlformats.org/drawingml/2006/main" noGrp="1"/>
          </p:cNvSpPr>
          <p:nvPr/>
        </p:nvSpPr>
        <p:spPr>
          <a:xfrm xmlns:a="http://schemas.openxmlformats.org/drawingml/2006/main">
            <a:off x="666750" y="37052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setState is simple here. Provider could centralize shared state.</a:t>
            </a:r>
          </a:p>
        </p:txBody>
      </p:sp>
      <p:sp>
        <p:nvSpPr>
          <p:cNvPr id="7" name="">
            <a:extLst xmlns:a="http://schemas.openxmlformats.org/drawingml/2006/main">
              <a:ext uri="{FF2B5EF4-FFF2-40B4-BE49-F238E27FC236}">
                <a16:creationId xmlns:a16="http://schemas.microsoft.com/office/drawing/2014/main" id="{90AFA927-282A-415D-BC31-C5BE366CB588}"/>
              </a:ext>
            </a:extLst>
          </p:cNvPr>
          <p:cNvSpPr>
            <a:spLocks xmlns:a="http://schemas.openxmlformats.org/drawingml/2006/main" noGrp="1"/>
          </p:cNvSpPr>
          <p:nvPr/>
        </p:nvSpPr>
        <p:spPr>
          <a:xfrm xmlns:a="http://schemas.openxmlformats.org/drawingml/2006/main">
            <a:off x="5762625" y="147637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286A4B"/>
                </a:solidFill>
                <a:latin typeface="Arial"/>
                <a:ea typeface="Arial"/>
                <a:cs typeface="Arial"/>
              </a:defRPr>
            </a:defPPr>
            <a:lvl1pPr>
              <a:defRPr sz="1500" b="1">
                <a:solidFill>
                  <a:srgbClr val="286A4B"/>
                </a:solidFill>
                <a:latin typeface="Arial"/>
                <a:ea typeface="Arial"/>
                <a:cs typeface="Arial"/>
              </a:defRPr>
            </a:lvl1pPr>
            <a:lvl2pPr>
              <a:defRPr sz="1500" b="1">
                <a:solidFill>
                  <a:srgbClr val="286A4B"/>
                </a:solidFill>
                <a:latin typeface="Arial"/>
                <a:ea typeface="Arial"/>
                <a:cs typeface="Arial"/>
              </a:defRPr>
            </a:lvl2pPr>
            <a:lvl3pPr>
              <a:defRPr sz="1500" b="1">
                <a:solidFill>
                  <a:srgbClr val="286A4B"/>
                </a:solidFill>
                <a:latin typeface="Arial"/>
                <a:ea typeface="Arial"/>
                <a:cs typeface="Arial"/>
              </a:defRPr>
            </a:lvl3pPr>
            <a:lvl4pPr>
              <a:defRPr sz="1500" b="1">
                <a:solidFill>
                  <a:srgbClr val="286A4B"/>
                </a:solidFill>
                <a:latin typeface="Arial"/>
                <a:ea typeface="Arial"/>
                <a:cs typeface="Arial"/>
              </a:defRPr>
            </a:lvl4pPr>
            <a:lvl5pPr>
              <a:defRPr sz="1500" b="1">
                <a:solidFill>
                  <a:srgbClr val="286A4B"/>
                </a:solidFill>
                <a:latin typeface="Arial"/>
                <a:ea typeface="Arial"/>
                <a:cs typeface="Arial"/>
              </a:defRPr>
            </a:lvl5pPr>
            <a:lvl6pPr>
              <a:defRPr sz="1500" b="1">
                <a:solidFill>
                  <a:srgbClr val="286A4B"/>
                </a:solidFill>
                <a:latin typeface="Arial"/>
                <a:ea typeface="Arial"/>
                <a:cs typeface="Arial"/>
              </a:defRPr>
            </a:lvl6pPr>
            <a:lvl7pPr>
              <a:defRPr sz="1500" b="1">
                <a:solidFill>
                  <a:srgbClr val="286A4B"/>
                </a:solidFill>
                <a:latin typeface="Arial"/>
                <a:ea typeface="Arial"/>
                <a:cs typeface="Arial"/>
              </a:defRPr>
            </a:lvl7pPr>
            <a:lvl8pPr>
              <a:defRPr sz="1500" b="1">
                <a:solidFill>
                  <a:srgbClr val="286A4B"/>
                </a:solidFill>
                <a:latin typeface="Arial"/>
                <a:ea typeface="Arial"/>
                <a:cs typeface="Arial"/>
              </a:defRPr>
            </a:lvl8pPr>
            <a:lvl9pPr>
              <a:defRPr sz="1500" b="1">
                <a:solidFill>
                  <a:srgbClr val="286A4B"/>
                </a:solidFill>
                <a:latin typeface="Arial"/>
                <a:ea typeface="Arial"/>
                <a:cs typeface="Arial"/>
              </a:defRPr>
            </a:lvl9pPr>
          </a:lstStyle>
          <a:p xmlns:a="http://schemas.openxmlformats.org/drawingml/2006/main">
            <a:pPr>
              <a:defRPr sz="1500" b="1">
                <a:solidFill>
                  <a:srgbClr val="286A4B"/>
                </a:solidFill>
                <a:latin typeface="Arial"/>
                <a:ea typeface="Arial"/>
                <a:cs typeface="Arial"/>
              </a:defRPr>
            </a:pPr>
            <a:r>
              <a:rPr sz="1500" b="1">
                <a:solidFill>
                  <a:srgbClr val="286A4B"/>
                </a:solidFill>
                <a:latin typeface="Arial"/>
                <a:ea typeface="Arial"/>
                <a:cs typeface="Arial"/>
              </a:rPr>
              <a:t>Two source excerpts</a:t>
            </a:r>
          </a:p>
        </p:txBody>
      </p:sp>
      <p:sp>
        <p:nvSpPr>
          <p:cNvPr id="8" name="">
            <a:extLst xmlns:a="http://schemas.openxmlformats.org/drawingml/2006/main">
              <a:ext uri="{FF2B5EF4-FFF2-40B4-BE49-F238E27FC236}">
                <a16:creationId xmlns:a16="http://schemas.microsoft.com/office/drawing/2014/main" id="{7B5D3A96-3290-4DF9-89FC-21E4E818F0C4}"/>
              </a:ext>
            </a:extLst>
          </p:cNvPr>
          <p:cNvSpPr>
            <a:spLocks xmlns:a="http://schemas.openxmlformats.org/drawingml/2006/main" noGrp="1"/>
          </p:cNvSpPr>
          <p:nvPr/>
        </p:nvSpPr>
        <p:spPr>
          <a:xfrm xmlns:a="http://schemas.openxmlformats.org/drawingml/2006/main">
            <a:off x="5762625" y="2000250"/>
            <a:ext cx="5810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72C"/>
                </a:solidFill>
                <a:latin typeface="Courier New"/>
                <a:ea typeface="Courier New"/>
                <a:cs typeface="Courier New"/>
              </a:defRPr>
            </a:defPPr>
            <a:lvl1pPr>
              <a:defRPr sz="1725" b="0">
                <a:solidFill>
                  <a:srgbClr val="18372C"/>
                </a:solidFill>
                <a:latin typeface="Courier New"/>
                <a:ea typeface="Courier New"/>
                <a:cs typeface="Courier New"/>
              </a:defRPr>
            </a:lvl1pPr>
            <a:lvl2pPr>
              <a:defRPr sz="1725" b="0">
                <a:solidFill>
                  <a:srgbClr val="18372C"/>
                </a:solidFill>
                <a:latin typeface="Courier New"/>
                <a:ea typeface="Courier New"/>
                <a:cs typeface="Courier New"/>
              </a:defRPr>
            </a:lvl2pPr>
            <a:lvl3pPr>
              <a:defRPr sz="1725" b="0">
                <a:solidFill>
                  <a:srgbClr val="18372C"/>
                </a:solidFill>
                <a:latin typeface="Courier New"/>
                <a:ea typeface="Courier New"/>
                <a:cs typeface="Courier New"/>
              </a:defRPr>
            </a:lvl3pPr>
            <a:lvl4pPr>
              <a:defRPr sz="1725" b="0">
                <a:solidFill>
                  <a:srgbClr val="18372C"/>
                </a:solidFill>
                <a:latin typeface="Courier New"/>
                <a:ea typeface="Courier New"/>
                <a:cs typeface="Courier New"/>
              </a:defRPr>
            </a:lvl4pPr>
            <a:lvl5pPr>
              <a:defRPr sz="1725" b="0">
                <a:solidFill>
                  <a:srgbClr val="18372C"/>
                </a:solidFill>
                <a:latin typeface="Courier New"/>
                <a:ea typeface="Courier New"/>
                <a:cs typeface="Courier New"/>
              </a:defRPr>
            </a:lvl5pPr>
            <a:lvl6pPr>
              <a:defRPr sz="1725" b="0">
                <a:solidFill>
                  <a:srgbClr val="18372C"/>
                </a:solidFill>
                <a:latin typeface="Courier New"/>
                <a:ea typeface="Courier New"/>
                <a:cs typeface="Courier New"/>
              </a:defRPr>
            </a:lvl6pPr>
            <a:lvl7pPr>
              <a:defRPr sz="1725" b="0">
                <a:solidFill>
                  <a:srgbClr val="18372C"/>
                </a:solidFill>
                <a:latin typeface="Courier New"/>
                <a:ea typeface="Courier New"/>
                <a:cs typeface="Courier New"/>
              </a:defRPr>
            </a:lvl7pPr>
            <a:lvl8pPr>
              <a:defRPr sz="1725" b="0">
                <a:solidFill>
                  <a:srgbClr val="18372C"/>
                </a:solidFill>
                <a:latin typeface="Courier New"/>
                <a:ea typeface="Courier New"/>
                <a:cs typeface="Courier New"/>
              </a:defRPr>
            </a:lvl8pPr>
            <a:lvl9pPr>
              <a:defRPr sz="1725" b="0">
                <a:solidFill>
                  <a:srgbClr val="18372C"/>
                </a:solidFill>
                <a:latin typeface="Courier New"/>
                <a:ea typeface="Courier New"/>
                <a:cs typeface="Courier New"/>
              </a:defRPr>
            </a:lvl9pPr>
          </a:lstStyle>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@override</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void dispose() {</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_titleController.dispose();</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_motivationController.dispose();</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super.dispose();</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a:t>
            </a:r>
          </a:p>
          <a:p xmlns:a="http://schemas.openxmlformats.org/drawingml/2006/main">
            <a:r>
              <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After awaiting database reads:</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if (!mounted) return;</a:t>
            </a:r>
          </a:p>
        </p:txBody>
      </p:sp>
    </p:spTree>
    <p:extLst>
      <p:ext uri="{BB962C8B-B14F-4D97-AF65-F5344CB8AC3E}">
        <p14:creationId xmlns:p14="http://schemas.microsoft.com/office/powerpoint/2010/main" val="997844525"/>
      </p:ext>
    </p:extLst>
  </p:cSld>
  <p:transition spd="med">
    <p:fade/>
  </p:transition>
</p:sld>
</file>

<file path=ppt/slides/slide8.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94B3A5-9306-4853-8956-690515774A3E}"/>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Persistence and both entities’ CRUD</a:t>
            </a:r>
          </a:p>
        </p:txBody>
      </p:sp>
      <p:sp>
        <p:nvSpPr>
          <p:cNvPr id="2" name="">
            <a:extLst xmlns:a="http://schemas.openxmlformats.org/drawingml/2006/main">
              <a:ext uri="{FF2B5EF4-FFF2-40B4-BE49-F238E27FC236}">
                <a16:creationId xmlns:a16="http://schemas.microsoft.com/office/drawing/2014/main" id="{F43FC2B4-91A4-4C77-B72C-A9D01B495664}"/>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93F03F3A-EFFA-4D38-A3B9-6EAE4A1C3FA3}"/>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98000C21-9C1D-4295-8506-5A7B6782FDE7}"/>
              </a:ext>
            </a:extLst>
          </p:cNvPr>
          <p:cNvSpPr>
            <a:spLocks xmlns:a="http://schemas.openxmlformats.org/drawingml/2006/main" noGrp="1"/>
          </p:cNvSpPr>
          <p:nvPr/>
        </p:nvSpPr>
        <p:spPr>
          <a:xfrm xmlns:a="http://schemas.openxmlformats.org/drawingml/2006/main">
            <a:off x="666750" y="15716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Habit CRUD: insertHabit, getHabits, updateHabit, deleteHabit.</a:t>
            </a:r>
          </a:p>
        </p:txBody>
      </p:sp>
      <p:sp>
        <p:nvSpPr>
          <p:cNvPr id="5" name="">
            <a:extLst xmlns:a="http://schemas.openxmlformats.org/drawingml/2006/main">
              <a:ext uri="{FF2B5EF4-FFF2-40B4-BE49-F238E27FC236}">
                <a16:creationId xmlns:a16="http://schemas.microsoft.com/office/drawing/2014/main" id="{3E0FEA8F-F095-4919-9024-4B2F54C7495D}"/>
              </a:ext>
            </a:extLst>
          </p:cNvPr>
          <p:cNvSpPr>
            <a:spLocks xmlns:a="http://schemas.openxmlformats.org/drawingml/2006/main" noGrp="1"/>
          </p:cNvSpPr>
          <p:nvPr/>
        </p:nvSpPr>
        <p:spPr>
          <a:xfrm xmlns:a="http://schemas.openxmlformats.org/drawingml/2006/main">
            <a:off x="666750" y="26384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CheckIn CRUD: insertCheckIn, getCheckIns, updateCheckIn, deleteCheckIn.</a:t>
            </a:r>
          </a:p>
        </p:txBody>
      </p:sp>
      <p:sp>
        <p:nvSpPr>
          <p:cNvPr id="6" name="">
            <a:extLst xmlns:a="http://schemas.openxmlformats.org/drawingml/2006/main">
              <a:ext uri="{FF2B5EF4-FFF2-40B4-BE49-F238E27FC236}">
                <a16:creationId xmlns:a16="http://schemas.microsoft.com/office/drawing/2014/main" id="{69F4F96E-0E2A-427C-A144-051E5DFB8385}"/>
              </a:ext>
            </a:extLst>
          </p:cNvPr>
          <p:cNvSpPr>
            <a:spLocks xmlns:a="http://schemas.openxmlformats.org/drawingml/2006/main" noGrp="1"/>
          </p:cNvSpPr>
          <p:nvPr/>
        </p:nvSpPr>
        <p:spPr>
          <a:xfrm xmlns:a="http://schemas.openxmlformats.org/drawingml/2006/main">
            <a:off x="666750" y="37052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Confirm deletion, write to SQLite, then refresh the UI.</a:t>
            </a:r>
          </a:p>
        </p:txBody>
      </p:sp>
      <p:sp>
        <p:nvSpPr>
          <p:cNvPr id="7" name="">
            <a:extLst xmlns:a="http://schemas.openxmlformats.org/drawingml/2006/main">
              <a:ext uri="{FF2B5EF4-FFF2-40B4-BE49-F238E27FC236}">
                <a16:creationId xmlns:a16="http://schemas.microsoft.com/office/drawing/2014/main" id="{2CC4EB53-66AF-4B76-A136-9143B2294759}"/>
              </a:ext>
            </a:extLst>
          </p:cNvPr>
          <p:cNvSpPr>
            <a:spLocks xmlns:a="http://schemas.openxmlformats.org/drawingml/2006/main" noGrp="1"/>
          </p:cNvSpPr>
          <p:nvPr/>
        </p:nvSpPr>
        <p:spPr>
          <a:xfrm xmlns:a="http://schemas.openxmlformats.org/drawingml/2006/main">
            <a:off x="5762625" y="147637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286A4B"/>
                </a:solidFill>
                <a:latin typeface="Arial"/>
                <a:ea typeface="Arial"/>
                <a:cs typeface="Arial"/>
              </a:defRPr>
            </a:defPPr>
            <a:lvl1pPr>
              <a:defRPr sz="1500" b="1">
                <a:solidFill>
                  <a:srgbClr val="286A4B"/>
                </a:solidFill>
                <a:latin typeface="Arial"/>
                <a:ea typeface="Arial"/>
                <a:cs typeface="Arial"/>
              </a:defRPr>
            </a:lvl1pPr>
            <a:lvl2pPr>
              <a:defRPr sz="1500" b="1">
                <a:solidFill>
                  <a:srgbClr val="286A4B"/>
                </a:solidFill>
                <a:latin typeface="Arial"/>
                <a:ea typeface="Arial"/>
                <a:cs typeface="Arial"/>
              </a:defRPr>
            </a:lvl2pPr>
            <a:lvl3pPr>
              <a:defRPr sz="1500" b="1">
                <a:solidFill>
                  <a:srgbClr val="286A4B"/>
                </a:solidFill>
                <a:latin typeface="Arial"/>
                <a:ea typeface="Arial"/>
                <a:cs typeface="Arial"/>
              </a:defRPr>
            </a:lvl3pPr>
            <a:lvl4pPr>
              <a:defRPr sz="1500" b="1">
                <a:solidFill>
                  <a:srgbClr val="286A4B"/>
                </a:solidFill>
                <a:latin typeface="Arial"/>
                <a:ea typeface="Arial"/>
                <a:cs typeface="Arial"/>
              </a:defRPr>
            </a:lvl4pPr>
            <a:lvl5pPr>
              <a:defRPr sz="1500" b="1">
                <a:solidFill>
                  <a:srgbClr val="286A4B"/>
                </a:solidFill>
                <a:latin typeface="Arial"/>
                <a:ea typeface="Arial"/>
                <a:cs typeface="Arial"/>
              </a:defRPr>
            </a:lvl5pPr>
            <a:lvl6pPr>
              <a:defRPr sz="1500" b="1">
                <a:solidFill>
                  <a:srgbClr val="286A4B"/>
                </a:solidFill>
                <a:latin typeface="Arial"/>
                <a:ea typeface="Arial"/>
                <a:cs typeface="Arial"/>
              </a:defRPr>
            </a:lvl6pPr>
            <a:lvl7pPr>
              <a:defRPr sz="1500" b="1">
                <a:solidFill>
                  <a:srgbClr val="286A4B"/>
                </a:solidFill>
                <a:latin typeface="Arial"/>
                <a:ea typeface="Arial"/>
                <a:cs typeface="Arial"/>
              </a:defRPr>
            </a:lvl7pPr>
            <a:lvl8pPr>
              <a:defRPr sz="1500" b="1">
                <a:solidFill>
                  <a:srgbClr val="286A4B"/>
                </a:solidFill>
                <a:latin typeface="Arial"/>
                <a:ea typeface="Arial"/>
                <a:cs typeface="Arial"/>
              </a:defRPr>
            </a:lvl8pPr>
            <a:lvl9pPr>
              <a:defRPr sz="1500" b="1">
                <a:solidFill>
                  <a:srgbClr val="286A4B"/>
                </a:solidFill>
                <a:latin typeface="Arial"/>
                <a:ea typeface="Arial"/>
                <a:cs typeface="Arial"/>
              </a:defRPr>
            </a:lvl9pPr>
          </a:lstStyle>
          <a:p xmlns:a="http://schemas.openxmlformats.org/drawingml/2006/main">
            <a:pPr>
              <a:defRPr sz="1500" b="1">
                <a:solidFill>
                  <a:srgbClr val="286A4B"/>
                </a:solidFill>
                <a:latin typeface="Arial"/>
                <a:ea typeface="Arial"/>
                <a:cs typeface="Arial"/>
              </a:defRPr>
            </a:pPr>
            <a:r>
              <a:rPr sz="1500" b="1">
                <a:solidFill>
                  <a:srgbClr val="286A4B"/>
                </a:solidFill>
                <a:latin typeface="Arial"/>
                <a:ea typeface="Arial"/>
                <a:cs typeface="Arial"/>
              </a:rPr>
              <a:t>SQLite schema excerpt</a:t>
            </a:r>
          </a:p>
        </p:txBody>
      </p:sp>
      <p:sp>
        <p:nvSpPr>
          <p:cNvPr id="8" name="">
            <a:extLst xmlns:a="http://schemas.openxmlformats.org/drawingml/2006/main">
              <a:ext uri="{FF2B5EF4-FFF2-40B4-BE49-F238E27FC236}">
                <a16:creationId xmlns:a16="http://schemas.microsoft.com/office/drawing/2014/main" id="{B3FC34BE-BDF5-43DD-AD49-9D2E0ECF8796}"/>
              </a:ext>
            </a:extLst>
          </p:cNvPr>
          <p:cNvSpPr>
            <a:spLocks xmlns:a="http://schemas.openxmlformats.org/drawingml/2006/main" noGrp="1"/>
          </p:cNvSpPr>
          <p:nvPr/>
        </p:nvSpPr>
        <p:spPr>
          <a:xfrm xmlns:a="http://schemas.openxmlformats.org/drawingml/2006/main">
            <a:off x="5762625" y="2000250"/>
            <a:ext cx="5810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72C"/>
                </a:solidFill>
                <a:latin typeface="Courier New"/>
                <a:ea typeface="Courier New"/>
                <a:cs typeface="Courier New"/>
              </a:defRPr>
            </a:defPPr>
            <a:lvl1pPr>
              <a:defRPr sz="1725" b="0">
                <a:solidFill>
                  <a:srgbClr val="18372C"/>
                </a:solidFill>
                <a:latin typeface="Courier New"/>
                <a:ea typeface="Courier New"/>
                <a:cs typeface="Courier New"/>
              </a:defRPr>
            </a:lvl1pPr>
            <a:lvl2pPr>
              <a:defRPr sz="1725" b="0">
                <a:solidFill>
                  <a:srgbClr val="18372C"/>
                </a:solidFill>
                <a:latin typeface="Courier New"/>
                <a:ea typeface="Courier New"/>
                <a:cs typeface="Courier New"/>
              </a:defRPr>
            </a:lvl2pPr>
            <a:lvl3pPr>
              <a:defRPr sz="1725" b="0">
                <a:solidFill>
                  <a:srgbClr val="18372C"/>
                </a:solidFill>
                <a:latin typeface="Courier New"/>
                <a:ea typeface="Courier New"/>
                <a:cs typeface="Courier New"/>
              </a:defRPr>
            </a:lvl3pPr>
            <a:lvl4pPr>
              <a:defRPr sz="1725" b="0">
                <a:solidFill>
                  <a:srgbClr val="18372C"/>
                </a:solidFill>
                <a:latin typeface="Courier New"/>
                <a:ea typeface="Courier New"/>
                <a:cs typeface="Courier New"/>
              </a:defRPr>
            </a:lvl4pPr>
            <a:lvl5pPr>
              <a:defRPr sz="1725" b="0">
                <a:solidFill>
                  <a:srgbClr val="18372C"/>
                </a:solidFill>
                <a:latin typeface="Courier New"/>
                <a:ea typeface="Courier New"/>
                <a:cs typeface="Courier New"/>
              </a:defRPr>
            </a:lvl5pPr>
            <a:lvl6pPr>
              <a:defRPr sz="1725" b="0">
                <a:solidFill>
                  <a:srgbClr val="18372C"/>
                </a:solidFill>
                <a:latin typeface="Courier New"/>
                <a:ea typeface="Courier New"/>
                <a:cs typeface="Courier New"/>
              </a:defRPr>
            </a:lvl6pPr>
            <a:lvl7pPr>
              <a:defRPr sz="1725" b="0">
                <a:solidFill>
                  <a:srgbClr val="18372C"/>
                </a:solidFill>
                <a:latin typeface="Courier New"/>
                <a:ea typeface="Courier New"/>
                <a:cs typeface="Courier New"/>
              </a:defRPr>
            </a:lvl7pPr>
            <a:lvl8pPr>
              <a:defRPr sz="1725" b="0">
                <a:solidFill>
                  <a:srgbClr val="18372C"/>
                </a:solidFill>
                <a:latin typeface="Courier New"/>
                <a:ea typeface="Courier New"/>
                <a:cs typeface="Courier New"/>
              </a:defRPr>
            </a:lvl8pPr>
            <a:lvl9pPr>
              <a:defRPr sz="1725" b="0">
                <a:solidFill>
                  <a:srgbClr val="18372C"/>
                </a:solidFill>
                <a:latin typeface="Courier New"/>
                <a:ea typeface="Courier New"/>
                <a:cs typeface="Courier New"/>
              </a:defRPr>
            </a:lvl9pPr>
          </a:lstStyle>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FOREIGN KEY (habit_id)</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REFERENCES habits(id)</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ON DELETE CASCADE,</a:t>
            </a:r>
          </a:p>
          <a:p xmlns:a="http://schemas.openxmlformats.org/drawingml/2006/main">
            <a:r>
              <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UNIQUE(habit_id, local_date)</a:t>
            </a:r>
          </a:p>
        </p:txBody>
      </p:sp>
    </p:spTree>
    <p:extLst>
      <p:ext uri="{BB962C8B-B14F-4D97-AF65-F5344CB8AC3E}">
        <p14:creationId xmlns:p14="http://schemas.microsoft.com/office/powerpoint/2010/main" val="1892415227"/>
      </p:ext>
    </p:extLst>
  </p:cSld>
  <p:transition spd="med">
    <p:fade/>
  </p:transition>
</p:sld>
</file>

<file path=ppt/slides/slide9.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AFDFE8-66C5-4EBC-94E4-5B5499D5B140}"/>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Offline storage and preferences</a:t>
            </a:r>
          </a:p>
        </p:txBody>
      </p:sp>
      <p:sp>
        <p:nvSpPr>
          <p:cNvPr id="2" name="">
            <a:extLst xmlns:a="http://schemas.openxmlformats.org/drawingml/2006/main">
              <a:ext uri="{FF2B5EF4-FFF2-40B4-BE49-F238E27FC236}">
                <a16:creationId xmlns:a16="http://schemas.microsoft.com/office/drawing/2014/main" id="{037DB031-2686-4B98-A081-634F94D38854}"/>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017E3212-1540-4608-B888-1926D69CA1C6}"/>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C8DB9DE5-899B-4463-A580-53226E183233}"/>
              </a:ext>
            </a:extLst>
          </p:cNvPr>
          <p:cNvSpPr>
            <a:spLocks xmlns:a="http://schemas.openxmlformats.org/drawingml/2006/main" noGrp="1"/>
          </p:cNvSpPr>
          <p:nvPr/>
        </p:nvSpPr>
        <p:spPr>
          <a:xfrm xmlns:a="http://schemas.openxmlformats.org/drawingml/2006/main">
            <a:off x="685800" y="1581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SQLite: habits, check-ins, relationships, and cycle status.</a:t>
            </a:r>
          </a:p>
        </p:txBody>
      </p:sp>
      <p:sp>
        <p:nvSpPr>
          <p:cNvPr id="5" name="">
            <a:extLst xmlns:a="http://schemas.openxmlformats.org/drawingml/2006/main">
              <a:ext uri="{FF2B5EF4-FFF2-40B4-BE49-F238E27FC236}">
                <a16:creationId xmlns:a16="http://schemas.microsoft.com/office/drawing/2014/main" id="{42E37BE1-3C40-4A46-8822-29A1F5D3D939}"/>
              </a:ext>
            </a:extLst>
          </p:cNvPr>
          <p:cNvSpPr>
            <a:spLocks xmlns:a="http://schemas.openxmlformats.org/drawingml/2006/main" noGrp="1"/>
          </p:cNvSpPr>
          <p:nvPr/>
        </p:nvSpPr>
        <p:spPr>
          <a:xfrm xmlns:a="http://schemas.openxmlformats.org/drawingml/2006/main">
            <a:off x="685800" y="2533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SharedPreferences: default weekly target and reduced-motion setting.</a:t>
            </a:r>
          </a:p>
        </p:txBody>
      </p:sp>
      <p:sp>
        <p:nvSpPr>
          <p:cNvPr id="6" name="">
            <a:extLst xmlns:a="http://schemas.openxmlformats.org/drawingml/2006/main">
              <a:ext uri="{FF2B5EF4-FFF2-40B4-BE49-F238E27FC236}">
                <a16:creationId xmlns:a16="http://schemas.microsoft.com/office/drawing/2014/main" id="{2A282D12-D3A9-475E-AB02-D58B5B26D671}"/>
              </a:ext>
            </a:extLst>
          </p:cNvPr>
          <p:cNvSpPr>
            <a:spLocks xmlns:a="http://schemas.openxmlformats.org/drawingml/2006/main" noGrp="1"/>
          </p:cNvSpPr>
          <p:nvPr/>
        </p:nvSpPr>
        <p:spPr>
          <a:xfrm xmlns:a="http://schemas.openxmlformats.org/drawingml/2006/main">
            <a:off x="685800" y="3486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Required demo, pending: network off, save, close, relaunch, verify.</a:t>
            </a:r>
          </a:p>
        </p:txBody>
      </p:sp>
      <p:sp>
        <p:nvSpPr>
          <p:cNvPr id="7" name="">
            <a:extLst xmlns:a="http://schemas.openxmlformats.org/drawingml/2006/main">
              <a:ext uri="{FF2B5EF4-FFF2-40B4-BE49-F238E27FC236}">
                <a16:creationId xmlns:a16="http://schemas.microsoft.com/office/drawing/2014/main" id="{1DA55DCD-4E95-49B7-BCCB-250C4C1EC5D8}"/>
              </a:ext>
            </a:extLst>
          </p:cNvPr>
          <p:cNvSpPr>
            <a:spLocks xmlns:a="http://schemas.openxmlformats.org/drawingml/2006/main" noGrp="1"/>
          </p:cNvSpPr>
          <p:nvPr/>
        </p:nvSpPr>
        <p:spPr>
          <a:xfrm xmlns:a="http://schemas.openxmlformats.org/drawingml/2006/main">
            <a:off x="685800" y="4438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GitHub, ClickUp, and YouTube serve project work, not app storage.</a:t>
            </a:r>
          </a:p>
        </p:txBody>
      </p:sp>
    </p:spTree>
    <p:extLst>
      <p:ext uri="{BB962C8B-B14F-4D97-AF65-F5344CB8AC3E}">
        <p14:creationId xmlns:p14="http://schemas.microsoft.com/office/powerpoint/2010/main" val="1623280726"/>
      </p:ext>
    </p:extLst>
  </p:cSld>
  <p:transition spd="med">
    <p:fade/>
  </p:transition>
</p:sld>
</file>

<file path=ppt/slides/slide10.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BB9CC86-D597-456F-9E0C-8EE47AB51BA4}"/>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Pseudocode for a check-in</a:t>
            </a:r>
          </a:p>
        </p:txBody>
      </p:sp>
      <p:sp>
        <p:nvSpPr>
          <p:cNvPr id="2" name="">
            <a:extLst xmlns:a="http://schemas.openxmlformats.org/drawingml/2006/main">
              <a:ext uri="{FF2B5EF4-FFF2-40B4-BE49-F238E27FC236}">
                <a16:creationId xmlns:a16="http://schemas.microsoft.com/office/drawing/2014/main" id="{D8C925DC-A6EC-4478-B9A3-FDCAEDB8065B}"/>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3DB8B253-219F-4633-9DA9-8DF0483E5F2B}"/>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7B2B5FCB-3877-4F55-8AD3-CAEB66BF3000}"/>
              </a:ext>
            </a:extLst>
          </p:cNvPr>
          <p:cNvSpPr>
            <a:spLocks xmlns:a="http://schemas.openxmlformats.org/drawingml/2006/main" noGrp="1"/>
          </p:cNvSpPr>
          <p:nvPr/>
        </p:nvSpPr>
        <p:spPr>
          <a:xfrm xmlns:a="http://schemas.openxmlformats.org/drawingml/2006/main">
            <a:off x="762000" y="1543050"/>
            <a:ext cx="106680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72C"/>
                </a:solidFill>
                <a:latin typeface="Courier New"/>
                <a:ea typeface="Courier New"/>
                <a:cs typeface="Courier New"/>
              </a:defRPr>
            </a:defPPr>
            <a:lvl1pPr>
              <a:defRPr sz="2100" b="0">
                <a:solidFill>
                  <a:srgbClr val="18372C"/>
                </a:solidFill>
                <a:latin typeface="Courier New"/>
                <a:ea typeface="Courier New"/>
                <a:cs typeface="Courier New"/>
              </a:defRPr>
            </a:lvl1pPr>
            <a:lvl2pPr>
              <a:defRPr sz="2100" b="0">
                <a:solidFill>
                  <a:srgbClr val="18372C"/>
                </a:solidFill>
                <a:latin typeface="Courier New"/>
                <a:ea typeface="Courier New"/>
                <a:cs typeface="Courier New"/>
              </a:defRPr>
            </a:lvl2pPr>
            <a:lvl3pPr>
              <a:defRPr sz="2100" b="0">
                <a:solidFill>
                  <a:srgbClr val="18372C"/>
                </a:solidFill>
                <a:latin typeface="Courier New"/>
                <a:ea typeface="Courier New"/>
                <a:cs typeface="Courier New"/>
              </a:defRPr>
            </a:lvl3pPr>
            <a:lvl4pPr>
              <a:defRPr sz="2100" b="0">
                <a:solidFill>
                  <a:srgbClr val="18372C"/>
                </a:solidFill>
                <a:latin typeface="Courier New"/>
                <a:ea typeface="Courier New"/>
                <a:cs typeface="Courier New"/>
              </a:defRPr>
            </a:lvl4pPr>
            <a:lvl5pPr>
              <a:defRPr sz="2100" b="0">
                <a:solidFill>
                  <a:srgbClr val="18372C"/>
                </a:solidFill>
                <a:latin typeface="Courier New"/>
                <a:ea typeface="Courier New"/>
                <a:cs typeface="Courier New"/>
              </a:defRPr>
            </a:lvl5pPr>
            <a:lvl6pPr>
              <a:defRPr sz="2100" b="0">
                <a:solidFill>
                  <a:srgbClr val="18372C"/>
                </a:solidFill>
                <a:latin typeface="Courier New"/>
                <a:ea typeface="Courier New"/>
                <a:cs typeface="Courier New"/>
              </a:defRPr>
            </a:lvl6pPr>
            <a:lvl7pPr>
              <a:defRPr sz="2100" b="0">
                <a:solidFill>
                  <a:srgbClr val="18372C"/>
                </a:solidFill>
                <a:latin typeface="Courier New"/>
                <a:ea typeface="Courier New"/>
                <a:cs typeface="Courier New"/>
              </a:defRPr>
            </a:lvl7pPr>
            <a:lvl8pPr>
              <a:defRPr sz="2100" b="0">
                <a:solidFill>
                  <a:srgbClr val="18372C"/>
                </a:solidFill>
                <a:latin typeface="Courier New"/>
                <a:ea typeface="Courier New"/>
                <a:cs typeface="Courier New"/>
              </a:defRPr>
            </a:lvl8pPr>
            <a:lvl9pPr>
              <a:defRPr sz="2100" b="0">
                <a:solidFill>
                  <a:srgbClr val="18372C"/>
                </a:solidFill>
                <a:latin typeface="Courier New"/>
                <a:ea typeface="Courier New"/>
                <a:cs typeface="Courier New"/>
              </a:defRPr>
            </a:lvl9pPr>
          </a:lstStyle>
          <a:p xmlns:a="http://schemas.openxmlformats.org/drawingml/2006/main">
            <a:pPr>
              <a:defRPr sz="2100" b="0">
                <a:solidFill>
                  <a:srgbClr val="18372C"/>
                </a:solidFill>
                <a:latin typeface="Courier New"/>
                <a:ea typeface="Courier New"/>
                <a:cs typeface="Courier New"/>
              </a:defRPr>
            </a:pPr>
            <a:r>
              <a:rPr sz="2100" b="0">
                <a:solidFill>
                  <a:srgbClr val="18372C"/>
                </a:solidFill>
                <a:latin typeface="Courier New"/>
                <a:ea typeface="Courier New"/>
                <a:cs typeface="Courier New"/>
              </a:rPr>
              <a:t>WHEN Save Check-in is pressed</a:t>
            </a:r>
          </a:p>
          <a:p xmlns:a="http://schemas.openxmlformats.org/drawingml/2006/main">
            <a:pPr>
              <a:defRPr sz="2100" b="0">
                <a:solidFill>
                  <a:srgbClr val="18372C"/>
                </a:solidFill>
                <a:latin typeface="Courier New"/>
                <a:ea typeface="Courier New"/>
                <a:cs typeface="Courier New"/>
              </a:defRPr>
            </a:pPr>
            <a:r>
              <a:rPr sz="2100" b="0">
                <a:solidFill>
                  <a:srgbClr val="18372C"/>
                </a:solidFill>
                <a:latin typeface="Courier New"/>
                <a:ea typeface="Courier New"/>
                <a:cs typeface="Courier New"/>
              </a:rPr>
              <a:t>  reject a date outside habit start through today</a:t>
            </a:r>
          </a:p>
          <a:p xmlns:a="http://schemas.openxmlformats.org/drawingml/2006/main">
            <a:pPr>
              <a:defRPr sz="2100" b="0">
                <a:solidFill>
                  <a:srgbClr val="18372C"/>
                </a:solidFill>
                <a:latin typeface="Courier New"/>
                <a:ea typeface="Courier New"/>
                <a:cs typeface="Courier New"/>
              </a:defRPr>
            </a:pPr>
            <a:r>
              <a:rPr sz="2100" b="0">
                <a:solidFill>
                  <a:srgbClr val="18372C"/>
                </a:solidFill>
                <a:latin typeface="Courier New"/>
                <a:ea typeface="Courier New"/>
                <a:cs typeface="Courier New"/>
              </a:rPr>
              <a:t>  reject an already-used date</a:t>
            </a:r>
          </a:p>
          <a:p xmlns:a="http://schemas.openxmlformats.org/drawingml/2006/main">
            <a:pPr>
              <a:defRPr sz="2100" b="0">
                <a:solidFill>
                  <a:srgbClr val="18372C"/>
                </a:solidFill>
                <a:latin typeface="Courier New"/>
                <a:ea typeface="Courier New"/>
                <a:cs typeface="Courier New"/>
              </a:defRPr>
            </a:pPr>
            <a:r>
              <a:rPr sz="2100" b="0">
                <a:solidFill>
                  <a:srgbClr val="18372C"/>
                </a:solidFill>
                <a:latin typeface="Courier New"/>
                <a:ea typeface="Courier New"/>
                <a:cs typeface="Courier New"/>
              </a:rPr>
              <a:t>  disable repeated saves</a:t>
            </a:r>
          </a:p>
          <a:p xmlns:a="http://schemas.openxmlformats.org/drawingml/2006/main">
            <a:pPr>
              <a:defRPr sz="2100" b="0">
                <a:solidFill>
                  <a:srgbClr val="18372C"/>
                </a:solidFill>
                <a:latin typeface="Courier New"/>
                <a:ea typeface="Courier New"/>
                <a:cs typeface="Courier New"/>
              </a:defRPr>
            </a:pPr>
            <a:r>
              <a:rPr sz="2100" b="0">
                <a:solidFill>
                  <a:srgbClr val="18372C"/>
                </a:solidFill>
                <a:latin typeface="Courier New"/>
                <a:ea typeface="Courier New"/>
                <a:cs typeface="Courier New"/>
              </a:rPr>
              <a:t>  BEGIN database transaction</a:t>
            </a:r>
          </a:p>
          <a:p xmlns:a="http://schemas.openxmlformats.org/drawingml/2006/main">
            <a:pPr>
              <a:defRPr sz="2100" b="0">
                <a:solidFill>
                  <a:srgbClr val="18372C"/>
                </a:solidFill>
                <a:latin typeface="Courier New"/>
                <a:ea typeface="Courier New"/>
                <a:cs typeface="Courier New"/>
              </a:defRPr>
            </a:pPr>
            <a:r>
              <a:rPr sz="2100" b="0">
                <a:solidFill>
                  <a:srgbClr val="18372C"/>
                </a:solidFill>
                <a:latin typeface="Courier New"/>
                <a:ea typeface="Courier New"/>
                <a:cs typeface="Courier New"/>
              </a:rPr>
              <a:t>    find parent habit and validate the date</a:t>
            </a:r>
          </a:p>
          <a:p xmlns:a="http://schemas.openxmlformats.org/drawingml/2006/main">
            <a:pPr>
              <a:defRPr sz="2100" b="0">
                <a:solidFill>
                  <a:srgbClr val="18372C"/>
                </a:solidFill>
                <a:latin typeface="Courier New"/>
                <a:ea typeface="Courier New"/>
                <a:cs typeface="Courier New"/>
              </a:defRPr>
            </a:pPr>
            <a:r>
              <a:rPr sz="2100" b="0">
                <a:solidFill>
                  <a:srgbClr val="18372C"/>
                </a:solidFill>
                <a:latin typeface="Courier New"/>
                <a:ea typeface="Courier New"/>
                <a:cs typeface="Courier New"/>
              </a:rPr>
              <a:t>    reject duplicates and insert the record</a:t>
            </a:r>
          </a:p>
          <a:p xmlns:a="http://schemas.openxmlformats.org/drawingml/2006/main">
            <a:pPr>
              <a:defRPr sz="2100" b="0">
                <a:solidFill>
                  <a:srgbClr val="18372C"/>
                </a:solidFill>
                <a:latin typeface="Courier New"/>
                <a:ea typeface="Courier New"/>
                <a:cs typeface="Courier New"/>
              </a:defRPr>
            </a:pPr>
            <a:r>
              <a:rPr sz="2100" b="0">
                <a:solidFill>
                  <a:srgbClr val="18372C"/>
                </a:solidFill>
                <a:latin typeface="Courier New"/>
                <a:ea typeface="Courier New"/>
                <a:cs typeface="Courier New"/>
              </a:rPr>
              <a:t>  END transaction</a:t>
            </a:r>
          </a:p>
          <a:p xmlns:a="http://schemas.openxmlformats.org/drawingml/2006/main">
            <a:pPr>
              <a:defRPr sz="2100" b="0">
                <a:solidFill>
                  <a:srgbClr val="18372C"/>
                </a:solidFill>
                <a:latin typeface="Courier New"/>
                <a:ea typeface="Courier New"/>
                <a:cs typeface="Courier New"/>
              </a:defRPr>
            </a:pPr>
            <a:r>
              <a:rPr sz="2100" b="0">
                <a:solidFill>
                  <a:srgbClr val="18372C"/>
                </a:solidFill>
                <a:latin typeface="Courier New"/>
                <a:ea typeface="Courier New"/>
                <a:cs typeface="Courier New"/>
              </a:rPr>
              <a:t>  IF screen is still mounted</a:t>
            </a:r>
          </a:p>
          <a:p xmlns:a="http://schemas.openxmlformats.org/drawingml/2006/main">
            <a:pPr>
              <a:defRPr sz="2100" b="0">
                <a:solidFill>
                  <a:srgbClr val="18372C"/>
                </a:solidFill>
                <a:latin typeface="Courier New"/>
                <a:ea typeface="Courier New"/>
                <a:cs typeface="Courier New"/>
              </a:defRPr>
            </a:pPr>
            <a:r>
              <a:rPr sz="2100" b="0">
                <a:solidFill>
                  <a:srgbClr val="18372C"/>
                </a:solidFill>
                <a:latin typeface="Courier New"/>
                <a:ea typeface="Courier New"/>
                <a:cs typeface="Courier New"/>
              </a:rPr>
              <a:t>    close form and refresh saved records</a:t>
            </a:r>
          </a:p>
          <a:p xmlns:a="http://schemas.openxmlformats.org/drawingml/2006/main">
            <a:pPr>
              <a:defRPr sz="2100" b="0">
                <a:solidFill>
                  <a:srgbClr val="18372C"/>
                </a:solidFill>
                <a:latin typeface="Courier New"/>
                <a:ea typeface="Courier New"/>
                <a:cs typeface="Courier New"/>
              </a:defRPr>
            </a:pPr>
            <a:r>
              <a:rPr sz="2100" b="0">
                <a:solidFill>
                  <a:srgbClr val="18372C"/>
                </a:solidFill>
                <a:latin typeface="Courier New"/>
                <a:ea typeface="Courier New"/>
                <a:cs typeface="Courier New"/>
              </a:rPr>
              <a:t>  ON error, show feedback</a:t>
            </a:r>
          </a:p>
        </p:txBody>
      </p:sp>
    </p:spTree>
    <p:extLst>
      <p:ext uri="{BB962C8B-B14F-4D97-AF65-F5344CB8AC3E}">
        <p14:creationId xmlns:p14="http://schemas.microsoft.com/office/powerpoint/2010/main" val="1681515495"/>
      </p:ext>
    </p:extLst>
  </p:cSld>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animEffect transition="in" filter="fade">
                                      <p:cBhvr>
                                        <p:cTn id="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50C1C1-2F9D-4043-96BF-EE9C971AE69C}"/>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Weekly workflow and progress</a:t>
            </a:r>
          </a:p>
        </p:txBody>
      </p:sp>
      <p:sp>
        <p:nvSpPr>
          <p:cNvPr id="2" name="">
            <a:extLst xmlns:a="http://schemas.openxmlformats.org/drawingml/2006/main">
              <a:ext uri="{FF2B5EF4-FFF2-40B4-BE49-F238E27FC236}">
                <a16:creationId xmlns:a16="http://schemas.microsoft.com/office/drawing/2014/main" id="{ADC63AE9-3860-4043-A5EC-434423B4F06A}"/>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B6FFBCBD-6879-492D-AFA4-DDA6F02CB1ED}"/>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D78135E6-C67D-476A-908F-DBAA6B13BEB1}"/>
              </a:ext>
            </a:extLst>
          </p:cNvPr>
          <p:cNvSpPr>
            <a:spLocks xmlns:a="http://schemas.openxmlformats.org/drawingml/2006/main" noGrp="1"/>
          </p:cNvSpPr>
          <p:nvPr/>
        </p:nvSpPr>
        <p:spPr>
          <a:xfrm xmlns:a="http://schemas.openxmlformats.org/drawingml/2006/main">
            <a:off x="685800" y="1581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Start: Ready becomes Active. Finish: Active becomes Finished.</a:t>
            </a:r>
          </a:p>
        </p:txBody>
      </p:sp>
      <p:sp>
        <p:nvSpPr>
          <p:cNvPr id="5" name="">
            <a:extLst xmlns:a="http://schemas.openxmlformats.org/drawingml/2006/main">
              <a:ext uri="{FF2B5EF4-FFF2-40B4-BE49-F238E27FC236}">
                <a16:creationId xmlns:a16="http://schemas.microsoft.com/office/drawing/2014/main" id="{9431CCDA-67A2-457C-8A65-518B183D6C0A}"/>
              </a:ext>
            </a:extLst>
          </p:cNvPr>
          <p:cNvSpPr>
            <a:spLocks xmlns:a="http://schemas.openxmlformats.org/drawingml/2006/main" noGrp="1"/>
          </p:cNvSpPr>
          <p:nvPr/>
        </p:nvSpPr>
        <p:spPr>
          <a:xfrm xmlns:a="http://schemas.openxmlformats.org/drawingml/2006/main">
            <a:off x="685800" y="2533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Reset returns to Ready and preserves the saved check-ins.</a:t>
            </a:r>
          </a:p>
        </p:txBody>
      </p:sp>
      <p:sp>
        <p:nvSpPr>
          <p:cNvPr id="6" name="">
            <a:extLst xmlns:a="http://schemas.openxmlformats.org/drawingml/2006/main">
              <a:ext uri="{FF2B5EF4-FFF2-40B4-BE49-F238E27FC236}">
                <a16:creationId xmlns:a16="http://schemas.microsoft.com/office/drawing/2014/main" id="{74FE998A-6411-4517-A4F6-C00E81E00932}"/>
              </a:ext>
            </a:extLst>
          </p:cNvPr>
          <p:cNvSpPr>
            <a:spLocks xmlns:a="http://schemas.openxmlformats.org/drawingml/2006/main" noGrp="1"/>
          </p:cNvSpPr>
          <p:nvPr/>
        </p:nvSpPr>
        <p:spPr>
          <a:xfrm xmlns:a="http://schemas.openxmlformats.org/drawingml/2006/main">
            <a:off x="685800" y="3486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A new week reports Ready. Duplicate or invalid actions are rejected.</a:t>
            </a:r>
          </a:p>
        </p:txBody>
      </p:sp>
      <p:sp>
        <p:nvSpPr>
          <p:cNvPr id="7" name="">
            <a:extLst xmlns:a="http://schemas.openxmlformats.org/drawingml/2006/main">
              <a:ext uri="{FF2B5EF4-FFF2-40B4-BE49-F238E27FC236}">
                <a16:creationId xmlns:a16="http://schemas.microsoft.com/office/drawing/2014/main" id="{51C311F8-AC88-40C2-AD58-AFD89F011F2C}"/>
              </a:ext>
            </a:extLst>
          </p:cNvPr>
          <p:cNvSpPr>
            <a:spLocks xmlns:a="http://schemas.openxmlformats.org/drawingml/2006/main" noGrp="1"/>
          </p:cNvSpPr>
          <p:nvPr/>
        </p:nvSpPr>
        <p:spPr>
          <a:xfrm xmlns:a="http://schemas.openxmlformats.org/drawingml/2006/main">
            <a:off x="685800" y="4438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Numeric progress may exceed 100%. The visual plant stops at full.</a:t>
            </a:r>
          </a:p>
        </p:txBody>
      </p:sp>
    </p:spTree>
    <p:extLst>
      <p:ext uri="{BB962C8B-B14F-4D97-AF65-F5344CB8AC3E}">
        <p14:creationId xmlns:p14="http://schemas.microsoft.com/office/powerpoint/2010/main" val="595750734"/>
      </p:ext>
    </p:extLst>
  </p:cSld>
  <p:transition spd="med">
    <p:fade/>
  </p:transition>
</p:sld>
</file>

<file path=ppt/slides/slide12.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8441E9-79FD-43C6-B435-9A844F02017A}"/>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Garden Guide local helper</a:t>
            </a:r>
          </a:p>
        </p:txBody>
      </p:sp>
      <p:sp>
        <p:nvSpPr>
          <p:cNvPr id="2" name="">
            <a:extLst xmlns:a="http://schemas.openxmlformats.org/drawingml/2006/main">
              <a:ext uri="{FF2B5EF4-FFF2-40B4-BE49-F238E27FC236}">
                <a16:creationId xmlns:a16="http://schemas.microsoft.com/office/drawing/2014/main" id="{C3851008-7AD9-487F-AB5F-079916B99614}"/>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18A86984-0494-41D5-B156-A90DF91ADD30}"/>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770402A4-3C22-4AC7-A163-018378AF5069}"/>
              </a:ext>
            </a:extLst>
          </p:cNvPr>
          <p:cNvSpPr>
            <a:spLocks xmlns:a="http://schemas.openxmlformats.org/drawingml/2006/main" noGrp="1"/>
          </p:cNvSpPr>
          <p:nvPr/>
        </p:nvSpPr>
        <p:spPr>
          <a:xfrm xmlns:a="http://schemas.openxmlformats.org/drawingml/2006/main">
            <a:off x="666750" y="15716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Input: three completed weeks of distinct check-in days.</a:t>
            </a:r>
          </a:p>
        </p:txBody>
      </p:sp>
      <p:sp>
        <p:nvSpPr>
          <p:cNvPr id="5" name="">
            <a:extLst xmlns:a="http://schemas.openxmlformats.org/drawingml/2006/main">
              <a:ext uri="{FF2B5EF4-FFF2-40B4-BE49-F238E27FC236}">
                <a16:creationId xmlns:a16="http://schemas.microsoft.com/office/drawing/2014/main" id="{580A6919-394B-4516-B73D-0DB34CD6B72A}"/>
              </a:ext>
            </a:extLst>
          </p:cNvPr>
          <p:cNvSpPr>
            <a:spLocks xmlns:a="http://schemas.openxmlformats.org/drawingml/2006/main" noGrp="1"/>
          </p:cNvSpPr>
          <p:nvPr/>
        </p:nvSpPr>
        <p:spPr>
          <a:xfrm xmlns:a="http://schemas.openxmlformats.org/drawingml/2006/main">
            <a:off x="666750" y="26384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Suggestion: rounded average, limited to 1–7 days.</a:t>
            </a:r>
          </a:p>
        </p:txBody>
      </p:sp>
      <p:sp>
        <p:nvSpPr>
          <p:cNvPr id="6" name="">
            <a:extLst xmlns:a="http://schemas.openxmlformats.org/drawingml/2006/main">
              <a:ext uri="{FF2B5EF4-FFF2-40B4-BE49-F238E27FC236}">
                <a16:creationId xmlns:a16="http://schemas.microsoft.com/office/drawing/2014/main" id="{3FA07348-0B40-4CE7-96D9-B667D761E74B}"/>
              </a:ext>
            </a:extLst>
          </p:cNvPr>
          <p:cNvSpPr>
            <a:spLocks xmlns:a="http://schemas.openxmlformats.org/drawingml/2006/main" noGrp="1"/>
          </p:cNvSpPr>
          <p:nvPr/>
        </p:nvSpPr>
        <p:spPr>
          <a:xfrm xmlns:a="http://schemas.openxmlformats.org/drawingml/2006/main">
            <a:off x="666750" y="37052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Explanation and Apply support review and user override.</a:t>
            </a:r>
          </a:p>
        </p:txBody>
      </p:sp>
      <p:sp>
        <p:nvSpPr>
          <p:cNvPr id="7" name="">
            <a:extLst xmlns:a="http://schemas.openxmlformats.org/drawingml/2006/main">
              <a:ext uri="{FF2B5EF4-FFF2-40B4-BE49-F238E27FC236}">
                <a16:creationId xmlns:a16="http://schemas.microsoft.com/office/drawing/2014/main" id="{8701E1FF-07CB-4DB4-AA02-5C0FED962304}"/>
              </a:ext>
            </a:extLst>
          </p:cNvPr>
          <p:cNvSpPr>
            <a:spLocks xmlns:a="http://schemas.openxmlformats.org/drawingml/2006/main" noGrp="1"/>
          </p:cNvSpPr>
          <p:nvPr/>
        </p:nvSpPr>
        <p:spPr>
          <a:xfrm xmlns:a="http://schemas.openxmlformats.org/drawingml/2006/main">
            <a:off x="5762625" y="147637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286A4B"/>
                </a:solidFill>
                <a:latin typeface="Arial"/>
                <a:ea typeface="Arial"/>
                <a:cs typeface="Arial"/>
              </a:defRPr>
            </a:defPPr>
            <a:lvl1pPr>
              <a:defRPr sz="1500" b="1">
                <a:solidFill>
                  <a:srgbClr val="286A4B"/>
                </a:solidFill>
                <a:latin typeface="Arial"/>
                <a:ea typeface="Arial"/>
                <a:cs typeface="Arial"/>
              </a:defRPr>
            </a:lvl1pPr>
            <a:lvl2pPr>
              <a:defRPr sz="1500" b="1">
                <a:solidFill>
                  <a:srgbClr val="286A4B"/>
                </a:solidFill>
                <a:latin typeface="Arial"/>
                <a:ea typeface="Arial"/>
                <a:cs typeface="Arial"/>
              </a:defRPr>
            </a:lvl2pPr>
            <a:lvl3pPr>
              <a:defRPr sz="1500" b="1">
                <a:solidFill>
                  <a:srgbClr val="286A4B"/>
                </a:solidFill>
                <a:latin typeface="Arial"/>
                <a:ea typeface="Arial"/>
                <a:cs typeface="Arial"/>
              </a:defRPr>
            </a:lvl3pPr>
            <a:lvl4pPr>
              <a:defRPr sz="1500" b="1">
                <a:solidFill>
                  <a:srgbClr val="286A4B"/>
                </a:solidFill>
                <a:latin typeface="Arial"/>
                <a:ea typeface="Arial"/>
                <a:cs typeface="Arial"/>
              </a:defRPr>
            </a:lvl4pPr>
            <a:lvl5pPr>
              <a:defRPr sz="1500" b="1">
                <a:solidFill>
                  <a:srgbClr val="286A4B"/>
                </a:solidFill>
                <a:latin typeface="Arial"/>
                <a:ea typeface="Arial"/>
                <a:cs typeface="Arial"/>
              </a:defRPr>
            </a:lvl5pPr>
            <a:lvl6pPr>
              <a:defRPr sz="1500" b="1">
                <a:solidFill>
                  <a:srgbClr val="286A4B"/>
                </a:solidFill>
                <a:latin typeface="Arial"/>
                <a:ea typeface="Arial"/>
                <a:cs typeface="Arial"/>
              </a:defRPr>
            </a:lvl6pPr>
            <a:lvl7pPr>
              <a:defRPr sz="1500" b="1">
                <a:solidFill>
                  <a:srgbClr val="286A4B"/>
                </a:solidFill>
                <a:latin typeface="Arial"/>
                <a:ea typeface="Arial"/>
                <a:cs typeface="Arial"/>
              </a:defRPr>
            </a:lvl7pPr>
            <a:lvl8pPr>
              <a:defRPr sz="1500" b="1">
                <a:solidFill>
                  <a:srgbClr val="286A4B"/>
                </a:solidFill>
                <a:latin typeface="Arial"/>
                <a:ea typeface="Arial"/>
                <a:cs typeface="Arial"/>
              </a:defRPr>
            </a:lvl8pPr>
            <a:lvl9pPr>
              <a:defRPr sz="1500" b="1">
                <a:solidFill>
                  <a:srgbClr val="286A4B"/>
                </a:solidFill>
                <a:latin typeface="Arial"/>
                <a:ea typeface="Arial"/>
                <a:cs typeface="Arial"/>
              </a:defRPr>
            </a:lvl9pPr>
          </a:lstStyle>
          <a:p xmlns:a="http://schemas.openxmlformats.org/drawingml/2006/main">
            <a:pPr>
              <a:defRPr sz="1500" b="1">
                <a:solidFill>
                  <a:srgbClr val="286A4B"/>
                </a:solidFill>
                <a:latin typeface="Arial"/>
                <a:ea typeface="Arial"/>
                <a:cs typeface="Arial"/>
              </a:defRPr>
            </a:pPr>
            <a:r>
              <a:rPr sz="1500" b="1">
                <a:solidFill>
                  <a:srgbClr val="286A4B"/>
                </a:solidFill>
                <a:latin typeface="Arial"/>
                <a:ea typeface="Arial"/>
                <a:cs typeface="Arial"/>
              </a:rPr>
              <a:t>Rules-based calculation excerpt</a:t>
            </a:r>
          </a:p>
        </p:txBody>
      </p:sp>
      <p:sp>
        <p:nvSpPr>
          <p:cNvPr id="8" name="">
            <a:extLst xmlns:a="http://schemas.openxmlformats.org/drawingml/2006/main">
              <a:ext uri="{FF2B5EF4-FFF2-40B4-BE49-F238E27FC236}">
                <a16:creationId xmlns:a16="http://schemas.microsoft.com/office/drawing/2014/main" id="{786A021F-74C0-47B8-A43C-778684D74F5E}"/>
              </a:ext>
            </a:extLst>
          </p:cNvPr>
          <p:cNvSpPr>
            <a:spLocks xmlns:a="http://schemas.openxmlformats.org/drawingml/2006/main" noGrp="1"/>
          </p:cNvSpPr>
          <p:nvPr/>
        </p:nvSpPr>
        <p:spPr>
          <a:xfrm xmlns:a="http://schemas.openxmlformats.org/drawingml/2006/main">
            <a:off x="5762625" y="2000250"/>
            <a:ext cx="5810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72C"/>
                </a:solidFill>
                <a:latin typeface="Courier New"/>
                <a:ea typeface="Courier New"/>
                <a:cs typeface="Courier New"/>
              </a:defRPr>
            </a:defPPr>
            <a:lvl1pPr>
              <a:defRPr sz="1725" b="0">
                <a:solidFill>
                  <a:srgbClr val="18372C"/>
                </a:solidFill>
                <a:latin typeface="Courier New"/>
                <a:ea typeface="Courier New"/>
                <a:cs typeface="Courier New"/>
              </a:defRPr>
            </a:lvl1pPr>
            <a:lvl2pPr>
              <a:defRPr sz="1725" b="0">
                <a:solidFill>
                  <a:srgbClr val="18372C"/>
                </a:solidFill>
                <a:latin typeface="Courier New"/>
                <a:ea typeface="Courier New"/>
                <a:cs typeface="Courier New"/>
              </a:defRPr>
            </a:lvl2pPr>
            <a:lvl3pPr>
              <a:defRPr sz="1725" b="0">
                <a:solidFill>
                  <a:srgbClr val="18372C"/>
                </a:solidFill>
                <a:latin typeface="Courier New"/>
                <a:ea typeface="Courier New"/>
                <a:cs typeface="Courier New"/>
              </a:defRPr>
            </a:lvl3pPr>
            <a:lvl4pPr>
              <a:defRPr sz="1725" b="0">
                <a:solidFill>
                  <a:srgbClr val="18372C"/>
                </a:solidFill>
                <a:latin typeface="Courier New"/>
                <a:ea typeface="Courier New"/>
                <a:cs typeface="Courier New"/>
              </a:defRPr>
            </a:lvl4pPr>
            <a:lvl5pPr>
              <a:defRPr sz="1725" b="0">
                <a:solidFill>
                  <a:srgbClr val="18372C"/>
                </a:solidFill>
                <a:latin typeface="Courier New"/>
                <a:ea typeface="Courier New"/>
                <a:cs typeface="Courier New"/>
              </a:defRPr>
            </a:lvl5pPr>
            <a:lvl6pPr>
              <a:defRPr sz="1725" b="0">
                <a:solidFill>
                  <a:srgbClr val="18372C"/>
                </a:solidFill>
                <a:latin typeface="Courier New"/>
                <a:ea typeface="Courier New"/>
                <a:cs typeface="Courier New"/>
              </a:defRPr>
            </a:lvl6pPr>
            <a:lvl7pPr>
              <a:defRPr sz="1725" b="0">
                <a:solidFill>
                  <a:srgbClr val="18372C"/>
                </a:solidFill>
                <a:latin typeface="Courier New"/>
                <a:ea typeface="Courier New"/>
                <a:cs typeface="Courier New"/>
              </a:defRPr>
            </a:lvl7pPr>
            <a:lvl8pPr>
              <a:defRPr sz="1725" b="0">
                <a:solidFill>
                  <a:srgbClr val="18372C"/>
                </a:solidFill>
                <a:latin typeface="Courier New"/>
                <a:ea typeface="Courier New"/>
                <a:cs typeface="Courier New"/>
              </a:defRPr>
            </a:lvl8pPr>
            <a:lvl9pPr>
              <a:defRPr sz="1725" b="0">
                <a:solidFill>
                  <a:srgbClr val="18372C"/>
                </a:solidFill>
                <a:latin typeface="Courier New"/>
                <a:ea typeface="Courier New"/>
                <a:cs typeface="Courier New"/>
              </a:defRPr>
            </a:lvl9pPr>
          </a:lstStyle>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int result = (total / 3).round();</a:t>
            </a:r>
          </a:p>
          <a:p xmlns:a="http://schemas.openxmlformats.org/drawingml/2006/main">
            <a:r>
              <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if (result &lt; 1) {</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result = 1;</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if (result &gt; 7) {</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result = 7;</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return result;</a:t>
            </a:r>
          </a:p>
        </p:txBody>
      </p:sp>
    </p:spTree>
    <p:extLst>
      <p:ext uri="{BB962C8B-B14F-4D97-AF65-F5344CB8AC3E}">
        <p14:creationId xmlns:p14="http://schemas.microsoft.com/office/powerpoint/2010/main" val="453086649"/>
      </p:ext>
    </p:extLst>
  </p:cSld>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animEffect transition="in" filter="fade">
                                      <p:cBhvr>
                                        <p:cTn id="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E95E7A-F7ED-47A8-9E99-F6A03EE7A7A1}"/>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Helper cases and critical thinking</a:t>
            </a:r>
          </a:p>
        </p:txBody>
      </p:sp>
      <p:sp>
        <p:nvSpPr>
          <p:cNvPr id="2" name="">
            <a:extLst xmlns:a="http://schemas.openxmlformats.org/drawingml/2006/main">
              <a:ext uri="{FF2B5EF4-FFF2-40B4-BE49-F238E27FC236}">
                <a16:creationId xmlns:a16="http://schemas.microsoft.com/office/drawing/2014/main" id="{2AA57D80-CA1F-4857-B98D-A776C7B95903}"/>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2DB324C2-6038-4B45-B0D2-CE754C0F54D3}"/>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07F8EB1A-26F0-430B-805C-BA837DBAC659}"/>
              </a:ext>
            </a:extLst>
          </p:cNvPr>
          <p:cNvSpPr>
            <a:spLocks xmlns:a="http://schemas.openxmlformats.org/drawingml/2006/main" noGrp="1"/>
          </p:cNvSpPr>
          <p:nvPr/>
        </p:nvSpPr>
        <p:spPr>
          <a:xfrm xmlns:a="http://schemas.openxmlformats.org/drawingml/2006/main">
            <a:off x="685800" y="1581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Stable [4,4,4]: 4. Zero [0,0,0]: 1. High [7,7,7]: 7.</a:t>
            </a:r>
          </a:p>
        </p:txBody>
      </p:sp>
      <p:sp>
        <p:nvSpPr>
          <p:cNvPr id="5" name="">
            <a:extLst xmlns:a="http://schemas.openxmlformats.org/drawingml/2006/main">
              <a:ext uri="{FF2B5EF4-FFF2-40B4-BE49-F238E27FC236}">
                <a16:creationId xmlns:a16="http://schemas.microsoft.com/office/drawing/2014/main" id="{A18F9CF9-CDAB-4A5F-B5D7-33C5562CF6B2}"/>
              </a:ext>
            </a:extLst>
          </p:cNvPr>
          <p:cNvSpPr>
            <a:spLocks xmlns:a="http://schemas.openxmlformats.org/drawingml/2006/main" noGrp="1"/>
          </p:cNvSpPr>
          <p:nvPr/>
        </p:nvSpPr>
        <p:spPr>
          <a:xfrm xmlns:a="http://schemas.openxmlformats.org/drawingml/2006/main">
            <a:off x="685800" y="2533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Variable [1,4,7]: 4. Too little history: no suggestion.</a:t>
            </a:r>
          </a:p>
        </p:txBody>
      </p:sp>
      <p:sp>
        <p:nvSpPr>
          <p:cNvPr id="6" name="">
            <a:extLst xmlns:a="http://schemas.openxmlformats.org/drawingml/2006/main">
              <a:ext uri="{FF2B5EF4-FFF2-40B4-BE49-F238E27FC236}">
                <a16:creationId xmlns:a16="http://schemas.microsoft.com/office/drawing/2014/main" id="{F594EF6D-78C6-465F-A359-8251C9161687}"/>
              </a:ext>
            </a:extLst>
          </p:cNvPr>
          <p:cNvSpPr>
            <a:spLocks xmlns:a="http://schemas.openxmlformats.org/drawingml/2006/main" noGrp="1"/>
          </p:cNvSpPr>
          <p:nvPr/>
        </p:nvSpPr>
        <p:spPr>
          <a:xfrm xmlns:a="http://schemas.openxmlformats.org/drawingml/2006/main">
            <a:off x="685800" y="3486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Invalid future history: feedback and no suggestion.</a:t>
            </a:r>
          </a:p>
        </p:txBody>
      </p:sp>
      <p:sp>
        <p:nvSpPr>
          <p:cNvPr id="7" name="">
            <a:extLst xmlns:a="http://schemas.openxmlformats.org/drawingml/2006/main">
              <a:ext uri="{FF2B5EF4-FFF2-40B4-BE49-F238E27FC236}">
                <a16:creationId xmlns:a16="http://schemas.microsoft.com/office/drawing/2014/main" id="{7221AC4C-FCC9-44C6-9DD1-D1FC35EB92A9}"/>
              </a:ext>
            </a:extLst>
          </p:cNvPr>
          <p:cNvSpPr>
            <a:spLocks xmlns:a="http://schemas.openxmlformats.org/drawingml/2006/main" noGrp="1"/>
          </p:cNvSpPr>
          <p:nvPr/>
        </p:nvSpPr>
        <p:spPr>
          <a:xfrm xmlns:a="http://schemas.openxmlformats.org/drawingml/2006/main">
            <a:off x="685800" y="4438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Baseline: keep current target. Limitation: an average hides trends.</a:t>
            </a:r>
          </a:p>
        </p:txBody>
      </p:sp>
    </p:spTree>
    <p:extLst>
      <p:ext uri="{BB962C8B-B14F-4D97-AF65-F5344CB8AC3E}">
        <p14:creationId xmlns:p14="http://schemas.microsoft.com/office/powerpoint/2010/main" val="57287543"/>
      </p:ext>
    </p:extLst>
  </p:cSld>
  <p:transition spd="med">
    <p:fade/>
  </p:transition>
</p:sld>
</file>

<file path=ppt/slides/slide14.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99775C-4060-421F-A450-13E7117912C1}"/>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Test plan and acceptance coverage</a:t>
            </a:r>
          </a:p>
        </p:txBody>
      </p:sp>
      <p:sp>
        <p:nvSpPr>
          <p:cNvPr id="2" name="">
            <a:extLst xmlns:a="http://schemas.openxmlformats.org/drawingml/2006/main">
              <a:ext uri="{FF2B5EF4-FFF2-40B4-BE49-F238E27FC236}">
                <a16:creationId xmlns:a16="http://schemas.microsoft.com/office/drawing/2014/main" id="{315A9346-57F0-44AE-95F6-7AC2D2DF81B2}"/>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CF5923C2-BACF-4D5C-B6F7-B3A34B12E38E}"/>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912715CE-9A1E-42F8-8332-6D1C39D31D98}"/>
              </a:ext>
            </a:extLst>
          </p:cNvPr>
          <p:cNvSpPr>
            <a:spLocks xmlns:a="http://schemas.openxmlformats.org/drawingml/2006/main" noGrp="1"/>
          </p:cNvSpPr>
          <p:nvPr/>
        </p:nvSpPr>
        <p:spPr>
          <a:xfrm xmlns:a="http://schemas.openxmlformats.org/drawingml/2006/main">
            <a:off x="685800" y="1581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Normal: both entities’ CRUD and the complete five-screen flow.</a:t>
            </a:r>
          </a:p>
        </p:txBody>
      </p:sp>
      <p:sp>
        <p:nvSpPr>
          <p:cNvPr id="5" name="">
            <a:extLst xmlns:a="http://schemas.openxmlformats.org/drawingml/2006/main">
              <a:ext uri="{FF2B5EF4-FFF2-40B4-BE49-F238E27FC236}">
                <a16:creationId xmlns:a16="http://schemas.microsoft.com/office/drawing/2014/main" id="{D4B8721D-8CD3-488D-B773-BCFF0E3E5025}"/>
              </a:ext>
            </a:extLst>
          </p:cNvPr>
          <p:cNvSpPr>
            <a:spLocks xmlns:a="http://schemas.openxmlformats.org/drawingml/2006/main" noGrp="1"/>
          </p:cNvSpPr>
          <p:nvPr/>
        </p:nvSpPr>
        <p:spPr>
          <a:xfrm xmlns:a="http://schemas.openxmlformats.org/drawingml/2006/main">
            <a:off x="685800" y="2533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Empty: no habits, no check-ins, and insufficient helper history.</a:t>
            </a:r>
          </a:p>
        </p:txBody>
      </p:sp>
      <p:sp>
        <p:nvSpPr>
          <p:cNvPr id="6" name="">
            <a:extLst xmlns:a="http://schemas.openxmlformats.org/drawingml/2006/main">
              <a:ext uri="{FF2B5EF4-FFF2-40B4-BE49-F238E27FC236}">
                <a16:creationId xmlns:a16="http://schemas.microsoft.com/office/drawing/2014/main" id="{C9219932-EE5F-49AE-B3D9-37192A4D455F}"/>
              </a:ext>
            </a:extLst>
          </p:cNvPr>
          <p:cNvSpPr>
            <a:spLocks xmlns:a="http://schemas.openxmlformats.org/drawingml/2006/main" noGrp="1"/>
          </p:cNvSpPr>
          <p:nvPr/>
        </p:nvSpPr>
        <p:spPr>
          <a:xfrm xmlns:a="http://schemas.openxmlformats.org/drawingml/2006/main">
            <a:off x="685800" y="3486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Invalid: blanks, duplicate dates, future dates, and out-of-range targets.</a:t>
            </a:r>
          </a:p>
        </p:txBody>
      </p:sp>
      <p:sp>
        <p:nvSpPr>
          <p:cNvPr id="7" name="">
            <a:extLst xmlns:a="http://schemas.openxmlformats.org/drawingml/2006/main">
              <a:ext uri="{FF2B5EF4-FFF2-40B4-BE49-F238E27FC236}">
                <a16:creationId xmlns:a16="http://schemas.microsoft.com/office/drawing/2014/main" id="{AA324270-3490-415E-823F-BAE8CF04635C}"/>
              </a:ext>
            </a:extLst>
          </p:cNvPr>
          <p:cNvSpPr>
            <a:spLocks xmlns:a="http://schemas.openxmlformats.org/drawingml/2006/main" noGrp="1"/>
          </p:cNvSpPr>
          <p:nvPr/>
        </p:nvSpPr>
        <p:spPr>
          <a:xfrm xmlns:a="http://schemas.openxmlformats.org/drawingml/2006/main">
            <a:off x="685800" y="4438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Pending manual runs: two devices, settings persistence, offline relaunch.</a:t>
            </a:r>
          </a:p>
        </p:txBody>
      </p:sp>
    </p:spTree>
    <p:extLst>
      <p:ext uri="{BB962C8B-B14F-4D97-AF65-F5344CB8AC3E}">
        <p14:creationId xmlns:p14="http://schemas.microsoft.com/office/powerpoint/2010/main" val="564094835"/>
      </p:ext>
    </p:extLst>
  </p:cSld>
  <p:transition spd="med">
    <p:fade/>
  </p:transition>
</p:sld>
</file>

<file path=ppt/slides/slide15.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1A246DF-DE87-44C0-8D49-29C2608E96B6}"/>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Executed logic checks</a:t>
            </a:r>
          </a:p>
        </p:txBody>
      </p:sp>
      <p:sp>
        <p:nvSpPr>
          <p:cNvPr id="2" name="">
            <a:extLst xmlns:a="http://schemas.openxmlformats.org/drawingml/2006/main">
              <a:ext uri="{FF2B5EF4-FFF2-40B4-BE49-F238E27FC236}">
                <a16:creationId xmlns:a16="http://schemas.microsoft.com/office/drawing/2014/main" id="{62410B15-1D76-4AEF-A4EE-30B4787CA635}"/>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59B47FCA-4E2C-482D-BB79-3FB9DD4103AF}"/>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830ABEC8-09DC-4E7F-BCF6-B6E5C7110AA6}"/>
              </a:ext>
            </a:extLst>
          </p:cNvPr>
          <p:cNvSpPr>
            <a:spLocks xmlns:a="http://schemas.openxmlformats.org/drawingml/2006/main" noGrp="1"/>
          </p:cNvSpPr>
          <p:nvPr/>
        </p:nvSpPr>
        <p:spPr>
          <a:xfrm xmlns:a="http://schemas.openxmlformats.org/drawingml/2006/main">
            <a:off x="666750" y="15716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11 of 11 direct Dart logic checks passed.</a:t>
            </a:r>
          </a:p>
        </p:txBody>
      </p:sp>
      <p:sp>
        <p:nvSpPr>
          <p:cNvPr id="5" name="">
            <a:extLst xmlns:a="http://schemas.openxmlformats.org/drawingml/2006/main">
              <a:ext uri="{FF2B5EF4-FFF2-40B4-BE49-F238E27FC236}">
                <a16:creationId xmlns:a16="http://schemas.microsoft.com/office/drawing/2014/main" id="{53D4DD77-D8A7-4DF9-B7DE-D2D02792918C}"/>
              </a:ext>
            </a:extLst>
          </p:cNvPr>
          <p:cNvSpPr>
            <a:spLocks xmlns:a="http://schemas.openxmlformats.org/drawingml/2006/main" noGrp="1"/>
          </p:cNvSpPr>
          <p:nvPr/>
        </p:nvSpPr>
        <p:spPr>
          <a:xfrm xmlns:a="http://schemas.openxmlformats.org/drawingml/2006/main">
            <a:off x="666750" y="26384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Fixed input date: October 31, 2026.</a:t>
            </a:r>
          </a:p>
        </p:txBody>
      </p:sp>
      <p:sp>
        <p:nvSpPr>
          <p:cNvPr id="6" name="">
            <a:extLst xmlns:a="http://schemas.openxmlformats.org/drawingml/2006/main">
              <a:ext uri="{FF2B5EF4-FFF2-40B4-BE49-F238E27FC236}">
                <a16:creationId xmlns:a16="http://schemas.microsoft.com/office/drawing/2014/main" id="{47720537-429B-409A-AC3A-0D565BDC707A}"/>
              </a:ext>
            </a:extLst>
          </p:cNvPr>
          <p:cNvSpPr>
            <a:spLocks xmlns:a="http://schemas.openxmlformats.org/drawingml/2006/main" noGrp="1"/>
          </p:cNvSpPr>
          <p:nvPr/>
        </p:nvSpPr>
        <p:spPr>
          <a:xfrm xmlns:a="http://schemas.openxmlformats.org/drawingml/2006/main">
            <a:off x="666750" y="3705225"/>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72C"/>
                </a:solidFill>
                <a:latin typeface="Arial"/>
                <a:ea typeface="Arial"/>
                <a:cs typeface="Arial"/>
              </a:defRPr>
            </a:defPPr>
            <a:lvl1pPr>
              <a:defRPr sz="2025" b="0">
                <a:solidFill>
                  <a:srgbClr val="18372C"/>
                </a:solidFill>
                <a:latin typeface="Arial"/>
                <a:ea typeface="Arial"/>
                <a:cs typeface="Arial"/>
              </a:defRPr>
            </a:lvl1pPr>
            <a:lvl2pPr>
              <a:defRPr sz="2025" b="0">
                <a:solidFill>
                  <a:srgbClr val="18372C"/>
                </a:solidFill>
                <a:latin typeface="Arial"/>
                <a:ea typeface="Arial"/>
                <a:cs typeface="Arial"/>
              </a:defRPr>
            </a:lvl2pPr>
            <a:lvl3pPr>
              <a:defRPr sz="2025" b="0">
                <a:solidFill>
                  <a:srgbClr val="18372C"/>
                </a:solidFill>
                <a:latin typeface="Arial"/>
                <a:ea typeface="Arial"/>
                <a:cs typeface="Arial"/>
              </a:defRPr>
            </a:lvl3pPr>
            <a:lvl4pPr>
              <a:defRPr sz="2025" b="0">
                <a:solidFill>
                  <a:srgbClr val="18372C"/>
                </a:solidFill>
                <a:latin typeface="Arial"/>
                <a:ea typeface="Arial"/>
                <a:cs typeface="Arial"/>
              </a:defRPr>
            </a:lvl4pPr>
            <a:lvl5pPr>
              <a:defRPr sz="2025" b="0">
                <a:solidFill>
                  <a:srgbClr val="18372C"/>
                </a:solidFill>
                <a:latin typeface="Arial"/>
                <a:ea typeface="Arial"/>
                <a:cs typeface="Arial"/>
              </a:defRPr>
            </a:lvl5pPr>
            <a:lvl6pPr>
              <a:defRPr sz="2025" b="0">
                <a:solidFill>
                  <a:srgbClr val="18372C"/>
                </a:solidFill>
                <a:latin typeface="Arial"/>
                <a:ea typeface="Arial"/>
                <a:cs typeface="Arial"/>
              </a:defRPr>
            </a:lvl6pPr>
            <a:lvl7pPr>
              <a:defRPr sz="2025" b="0">
                <a:solidFill>
                  <a:srgbClr val="18372C"/>
                </a:solidFill>
                <a:latin typeface="Arial"/>
                <a:ea typeface="Arial"/>
                <a:cs typeface="Arial"/>
              </a:defRPr>
            </a:lvl7pPr>
            <a:lvl8pPr>
              <a:defRPr sz="2025" b="0">
                <a:solidFill>
                  <a:srgbClr val="18372C"/>
                </a:solidFill>
                <a:latin typeface="Arial"/>
                <a:ea typeface="Arial"/>
                <a:cs typeface="Arial"/>
              </a:defRPr>
            </a:lvl8pPr>
            <a:lvl9pPr>
              <a:defRPr sz="2025" b="0">
                <a:solidFill>
                  <a:srgbClr val="18372C"/>
                </a:solidFill>
                <a:latin typeface="Arial"/>
                <a:ea typeface="Arial"/>
                <a:cs typeface="Arial"/>
              </a:defRPr>
            </a:lvl9pPr>
          </a:lstStyle>
          <a:p xmlns:a="http://schemas.openxmlformats.org/drawingml/2006/main">
            <a:pPr>
              <a:defRPr sz="2025" b="0">
                <a:solidFill>
                  <a:srgbClr val="18372C"/>
                </a:solidFill>
                <a:latin typeface="Arial"/>
                <a:ea typeface="Arial"/>
                <a:cs typeface="Arial"/>
              </a:defRPr>
            </a:pPr>
            <a:r>
              <a:rPr sz="2025" b="0">
                <a:solidFill>
                  <a:srgbClr val="18372C"/>
                </a:solidFill>
                <a:latin typeface="Arial"/>
                <a:ea typeface="Arial"/>
                <a:cs typeface="Arial"/>
              </a:rPr>
              <a:t>Scope: model and helper logic. Database and device tests remain pending.</a:t>
            </a:r>
          </a:p>
        </p:txBody>
      </p:sp>
      <p:sp>
        <p:nvSpPr>
          <p:cNvPr id="7" name="">
            <a:extLst xmlns:a="http://schemas.openxmlformats.org/drawingml/2006/main">
              <a:ext uri="{FF2B5EF4-FFF2-40B4-BE49-F238E27FC236}">
                <a16:creationId xmlns:a16="http://schemas.microsoft.com/office/drawing/2014/main" id="{394081F1-60A0-4913-A1C3-E0E6413270B9}"/>
              </a:ext>
            </a:extLst>
          </p:cNvPr>
          <p:cNvSpPr>
            <a:spLocks xmlns:a="http://schemas.openxmlformats.org/drawingml/2006/main" noGrp="1"/>
          </p:cNvSpPr>
          <p:nvPr/>
        </p:nvSpPr>
        <p:spPr>
          <a:xfrm xmlns:a="http://schemas.openxmlformats.org/drawingml/2006/main">
            <a:off x="5762625" y="147637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286A4B"/>
                </a:solidFill>
                <a:latin typeface="Arial"/>
                <a:ea typeface="Arial"/>
                <a:cs typeface="Arial"/>
              </a:defRPr>
            </a:defPPr>
            <a:lvl1pPr>
              <a:defRPr sz="1500" b="1">
                <a:solidFill>
                  <a:srgbClr val="286A4B"/>
                </a:solidFill>
                <a:latin typeface="Arial"/>
                <a:ea typeface="Arial"/>
                <a:cs typeface="Arial"/>
              </a:defRPr>
            </a:lvl1pPr>
            <a:lvl2pPr>
              <a:defRPr sz="1500" b="1">
                <a:solidFill>
                  <a:srgbClr val="286A4B"/>
                </a:solidFill>
                <a:latin typeface="Arial"/>
                <a:ea typeface="Arial"/>
                <a:cs typeface="Arial"/>
              </a:defRPr>
            </a:lvl2pPr>
            <a:lvl3pPr>
              <a:defRPr sz="1500" b="1">
                <a:solidFill>
                  <a:srgbClr val="286A4B"/>
                </a:solidFill>
                <a:latin typeface="Arial"/>
                <a:ea typeface="Arial"/>
                <a:cs typeface="Arial"/>
              </a:defRPr>
            </a:lvl3pPr>
            <a:lvl4pPr>
              <a:defRPr sz="1500" b="1">
                <a:solidFill>
                  <a:srgbClr val="286A4B"/>
                </a:solidFill>
                <a:latin typeface="Arial"/>
                <a:ea typeface="Arial"/>
                <a:cs typeface="Arial"/>
              </a:defRPr>
            </a:lvl4pPr>
            <a:lvl5pPr>
              <a:defRPr sz="1500" b="1">
                <a:solidFill>
                  <a:srgbClr val="286A4B"/>
                </a:solidFill>
                <a:latin typeface="Arial"/>
                <a:ea typeface="Arial"/>
                <a:cs typeface="Arial"/>
              </a:defRPr>
            </a:lvl5pPr>
            <a:lvl6pPr>
              <a:defRPr sz="1500" b="1">
                <a:solidFill>
                  <a:srgbClr val="286A4B"/>
                </a:solidFill>
                <a:latin typeface="Arial"/>
                <a:ea typeface="Arial"/>
                <a:cs typeface="Arial"/>
              </a:defRPr>
            </a:lvl6pPr>
            <a:lvl7pPr>
              <a:defRPr sz="1500" b="1">
                <a:solidFill>
                  <a:srgbClr val="286A4B"/>
                </a:solidFill>
                <a:latin typeface="Arial"/>
                <a:ea typeface="Arial"/>
                <a:cs typeface="Arial"/>
              </a:defRPr>
            </a:lvl7pPr>
            <a:lvl8pPr>
              <a:defRPr sz="1500" b="1">
                <a:solidFill>
                  <a:srgbClr val="286A4B"/>
                </a:solidFill>
                <a:latin typeface="Arial"/>
                <a:ea typeface="Arial"/>
                <a:cs typeface="Arial"/>
              </a:defRPr>
            </a:lvl8pPr>
            <a:lvl9pPr>
              <a:defRPr sz="1500" b="1">
                <a:solidFill>
                  <a:srgbClr val="286A4B"/>
                </a:solidFill>
                <a:latin typeface="Arial"/>
                <a:ea typeface="Arial"/>
                <a:cs typeface="Arial"/>
              </a:defRPr>
            </a:lvl9pPr>
          </a:lstStyle>
          <a:p xmlns:a="http://schemas.openxmlformats.org/drawingml/2006/main">
            <a:pPr>
              <a:defRPr sz="1500" b="1">
                <a:solidFill>
                  <a:srgbClr val="286A4B"/>
                </a:solidFill>
                <a:latin typeface="Arial"/>
                <a:ea typeface="Arial"/>
                <a:cs typeface="Arial"/>
              </a:defRPr>
            </a:pPr>
            <a:r>
              <a:rPr sz="1500" b="1">
                <a:solidFill>
                  <a:srgbClr val="286A4B"/>
                </a:solidFill>
                <a:latin typeface="Arial"/>
                <a:ea typeface="Arial"/>
                <a:cs typeface="Arial"/>
              </a:rPr>
              <a:t>Executed check expressions, shortened</a:t>
            </a:r>
          </a:p>
        </p:txBody>
      </p:sp>
      <p:sp>
        <p:nvSpPr>
          <p:cNvPr id="8" name="">
            <a:extLst xmlns:a="http://schemas.openxmlformats.org/drawingml/2006/main">
              <a:ext uri="{FF2B5EF4-FFF2-40B4-BE49-F238E27FC236}">
                <a16:creationId xmlns:a16="http://schemas.microsoft.com/office/drawing/2014/main" id="{318D0FF2-81F8-4B79-B96A-030BD52CFBE5}"/>
              </a:ext>
            </a:extLst>
          </p:cNvPr>
          <p:cNvSpPr>
            <a:spLocks xmlns:a="http://schemas.openxmlformats.org/drawingml/2006/main" noGrp="1"/>
          </p:cNvSpPr>
          <p:nvPr/>
        </p:nvSpPr>
        <p:spPr>
          <a:xfrm xmlns:a="http://schemas.openxmlformats.org/drawingml/2006/main">
            <a:off x="5762625" y="2000250"/>
            <a:ext cx="5810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72C"/>
                </a:solidFill>
                <a:latin typeface="Courier New"/>
                <a:ea typeface="Courier New"/>
                <a:cs typeface="Courier New"/>
              </a:defRPr>
            </a:defPPr>
            <a:lvl1pPr>
              <a:defRPr sz="1725" b="0">
                <a:solidFill>
                  <a:srgbClr val="18372C"/>
                </a:solidFill>
                <a:latin typeface="Courier New"/>
                <a:ea typeface="Courier New"/>
                <a:cs typeface="Courier New"/>
              </a:defRPr>
            </a:lvl1pPr>
            <a:lvl2pPr>
              <a:defRPr sz="1725" b="0">
                <a:solidFill>
                  <a:srgbClr val="18372C"/>
                </a:solidFill>
                <a:latin typeface="Courier New"/>
                <a:ea typeface="Courier New"/>
                <a:cs typeface="Courier New"/>
              </a:defRPr>
            </a:lvl2pPr>
            <a:lvl3pPr>
              <a:defRPr sz="1725" b="0">
                <a:solidFill>
                  <a:srgbClr val="18372C"/>
                </a:solidFill>
                <a:latin typeface="Courier New"/>
                <a:ea typeface="Courier New"/>
                <a:cs typeface="Courier New"/>
              </a:defRPr>
            </a:lvl3pPr>
            <a:lvl4pPr>
              <a:defRPr sz="1725" b="0">
                <a:solidFill>
                  <a:srgbClr val="18372C"/>
                </a:solidFill>
                <a:latin typeface="Courier New"/>
                <a:ea typeface="Courier New"/>
                <a:cs typeface="Courier New"/>
              </a:defRPr>
            </a:lvl4pPr>
            <a:lvl5pPr>
              <a:defRPr sz="1725" b="0">
                <a:solidFill>
                  <a:srgbClr val="18372C"/>
                </a:solidFill>
                <a:latin typeface="Courier New"/>
                <a:ea typeface="Courier New"/>
                <a:cs typeface="Courier New"/>
              </a:defRPr>
            </a:lvl5pPr>
            <a:lvl6pPr>
              <a:defRPr sz="1725" b="0">
                <a:solidFill>
                  <a:srgbClr val="18372C"/>
                </a:solidFill>
                <a:latin typeface="Courier New"/>
                <a:ea typeface="Courier New"/>
                <a:cs typeface="Courier New"/>
              </a:defRPr>
            </a:lvl6pPr>
            <a:lvl7pPr>
              <a:defRPr sz="1725" b="0">
                <a:solidFill>
                  <a:srgbClr val="18372C"/>
                </a:solidFill>
                <a:latin typeface="Courier New"/>
                <a:ea typeface="Courier New"/>
                <a:cs typeface="Courier New"/>
              </a:defRPr>
            </a:lvl7pPr>
            <a:lvl8pPr>
              <a:defRPr sz="1725" b="0">
                <a:solidFill>
                  <a:srgbClr val="18372C"/>
                </a:solidFill>
                <a:latin typeface="Courier New"/>
                <a:ea typeface="Courier New"/>
                <a:cs typeface="Courier New"/>
              </a:defRPr>
            </a:lvl8pPr>
            <a:lvl9pPr>
              <a:defRPr sz="1725" b="0">
                <a:solidFill>
                  <a:srgbClr val="18372C"/>
                </a:solidFill>
                <a:latin typeface="Courier New"/>
                <a:ea typeface="Courier New"/>
                <a:cs typeface="Courier New"/>
              </a:defRPr>
            </a:lvl9pPr>
          </a:lstStyle>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weeklyCount([</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entry(26), entry(26), entry(27),</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entry(28, habitId: 2), entry(25)</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1, today) == 2</a:t>
            </a:r>
          </a:p>
          <a:p xmlns:a="http://schemas.openxmlformats.org/drawingml/2006/main">
            <a:r>
              <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GardenGuide.suggestFromCounts(</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[1, 4, 7]</a:t>
            </a:r>
          </a:p>
          <a:p xmlns:a="http://schemas.openxmlformats.org/drawingml/2006/main">
            <a:pPr>
              <a:defRPr sz="1725" b="0">
                <a:solidFill>
                  <a:srgbClr val="18372C"/>
                </a:solidFill>
                <a:latin typeface="Courier New"/>
                <a:ea typeface="Courier New"/>
                <a:cs typeface="Courier New"/>
              </a:defRPr>
            </a:pPr>
            <a:r>
              <a:rPr sz="1725" b="0">
                <a:solidFill>
                  <a:srgbClr val="18372C"/>
                </a:solidFill>
                <a:latin typeface="Courier New"/>
                <a:ea typeface="Courier New"/>
                <a:cs typeface="Courier New"/>
              </a:rPr>
              <a:t>) == 4</a:t>
            </a:r>
          </a:p>
        </p:txBody>
      </p:sp>
    </p:spTree>
    <p:extLst>
      <p:ext uri="{BB962C8B-B14F-4D97-AF65-F5344CB8AC3E}">
        <p14:creationId xmlns:p14="http://schemas.microsoft.com/office/powerpoint/2010/main" val="399400042"/>
      </p:ext>
    </p:extLst>
  </p:cSld>
  <p:transition spd="med">
    <p:fade/>
  </p:transition>
</p:sld>
</file>

<file path=ppt/slides/slide16.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DA709A-2315-432A-87FC-739C1B88D500}"/>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Bug tracking and reporting</a:t>
            </a:r>
          </a:p>
        </p:txBody>
      </p:sp>
      <p:sp>
        <p:nvSpPr>
          <p:cNvPr id="2" name="">
            <a:extLst xmlns:a="http://schemas.openxmlformats.org/drawingml/2006/main">
              <a:ext uri="{FF2B5EF4-FFF2-40B4-BE49-F238E27FC236}">
                <a16:creationId xmlns:a16="http://schemas.microsoft.com/office/drawing/2014/main" id="{2A480352-7627-40F8-8A2C-8DCC45873BE8}"/>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AB89AEF3-D033-4130-BE58-10A059DD10E8}"/>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E5D00E30-7FA9-4A7E-A9CB-3BF02005215C}"/>
              </a:ext>
            </a:extLst>
          </p:cNvPr>
          <p:cNvSpPr>
            <a:spLocks xmlns:a="http://schemas.openxmlformats.org/drawingml/2006/main" noGrp="1"/>
          </p:cNvSpPr>
          <p:nvPr/>
        </p:nvSpPr>
        <p:spPr>
          <a:xfrm xmlns:a="http://schemas.openxmlformats.org/drawingml/2006/main">
            <a:off x="685800" y="1581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BUG-01: saved default target is not loaded into a new editor.</a:t>
            </a:r>
          </a:p>
        </p:txBody>
      </p:sp>
      <p:sp>
        <p:nvSpPr>
          <p:cNvPr id="5" name="">
            <a:extLst xmlns:a="http://schemas.openxmlformats.org/drawingml/2006/main">
              <a:ext uri="{FF2B5EF4-FFF2-40B4-BE49-F238E27FC236}">
                <a16:creationId xmlns:a16="http://schemas.microsoft.com/office/drawing/2014/main" id="{2A3AFC35-3E54-4C98-BBDE-80F61DA168F2}"/>
              </a:ext>
            </a:extLst>
          </p:cNvPr>
          <p:cNvSpPr>
            <a:spLocks xmlns:a="http://schemas.openxmlformats.org/drawingml/2006/main" noGrp="1"/>
          </p:cNvSpPr>
          <p:nvPr/>
        </p:nvSpPr>
        <p:spPr>
          <a:xfrm xmlns:a="http://schemas.openxmlformats.org/drawingml/2006/main">
            <a:off x="685800" y="2533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Evidence: settings persists the value; editor initializes the target to 4.</a:t>
            </a:r>
          </a:p>
        </p:txBody>
      </p:sp>
      <p:sp>
        <p:nvSpPr>
          <p:cNvPr id="6" name="">
            <a:extLst xmlns:a="http://schemas.openxmlformats.org/drawingml/2006/main">
              <a:ext uri="{FF2B5EF4-FFF2-40B4-BE49-F238E27FC236}">
                <a16:creationId xmlns:a16="http://schemas.microsoft.com/office/drawing/2014/main" id="{39DE47B7-46E5-4D71-BE18-9AED42E05E29}"/>
              </a:ext>
            </a:extLst>
          </p:cNvPr>
          <p:cNvSpPr>
            <a:spLocks xmlns:a="http://schemas.openxmlformats.org/drawingml/2006/main" noGrp="1"/>
          </p:cNvSpPr>
          <p:nvPr/>
        </p:nvSpPr>
        <p:spPr>
          <a:xfrm xmlns:a="http://schemas.openxmlformats.org/drawingml/2006/main">
            <a:off x="685800" y="3486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Reproduce: save 6 in Settings, then open a new habit. Runtime check pending.</a:t>
            </a:r>
          </a:p>
        </p:txBody>
      </p:sp>
      <p:sp>
        <p:nvSpPr>
          <p:cNvPr id="7" name="">
            <a:extLst xmlns:a="http://schemas.openxmlformats.org/drawingml/2006/main">
              <a:ext uri="{FF2B5EF4-FFF2-40B4-BE49-F238E27FC236}">
                <a16:creationId xmlns:a16="http://schemas.microsoft.com/office/drawing/2014/main" id="{BB3ADD87-A006-4833-8B3A-9373C363232D}"/>
              </a:ext>
            </a:extLst>
          </p:cNvPr>
          <p:cNvSpPr>
            <a:spLocks xmlns:a="http://schemas.openxmlformats.org/drawingml/2006/main" noGrp="1"/>
          </p:cNvSpPr>
          <p:nvPr/>
        </p:nvSpPr>
        <p:spPr>
          <a:xfrm xmlns:a="http://schemas.openxmlformats.org/drawingml/2006/main">
            <a:off x="685800" y="4438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Status: open. Proposed fix: load the preference, then reproduce and retest.</a:t>
            </a:r>
          </a:p>
        </p:txBody>
      </p:sp>
    </p:spTree>
    <p:extLst>
      <p:ext uri="{BB962C8B-B14F-4D97-AF65-F5344CB8AC3E}">
        <p14:creationId xmlns:p14="http://schemas.microsoft.com/office/powerpoint/2010/main" val="1063823889"/>
      </p:ext>
    </p:extLst>
  </p:cSld>
  <p:transition spd="med">
    <p:fade/>
  </p:transition>
</p:sld>
</file>

<file path=ppt/slides/slide17.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5DF7D3-D2DA-4B6A-B336-17F56601297C}"/>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Team participation and ownership</a:t>
            </a:r>
          </a:p>
        </p:txBody>
      </p:sp>
      <p:sp>
        <p:nvSpPr>
          <p:cNvPr id="2" name="">
            <a:extLst xmlns:a="http://schemas.openxmlformats.org/drawingml/2006/main">
              <a:ext uri="{FF2B5EF4-FFF2-40B4-BE49-F238E27FC236}">
                <a16:creationId xmlns:a16="http://schemas.microsoft.com/office/drawing/2014/main" id="{49EC7FF8-5AA8-4BD8-B642-8407F2978B11}"/>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18C38D2C-4687-456F-820F-F8A457B4B128}"/>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E6A1140C-BE17-43C0-A732-0D6D6AAA409D}"/>
              </a:ext>
            </a:extLst>
          </p:cNvPr>
          <p:cNvSpPr>
            <a:spLocks xmlns:a="http://schemas.openxmlformats.org/drawingml/2006/main" noGrp="1"/>
          </p:cNvSpPr>
          <p:nvPr/>
        </p:nvSpPr>
        <p:spPr>
          <a:xfrm xmlns:a="http://schemas.openxmlformats.org/drawingml/2006/main">
            <a:off x="685800" y="1581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Clarence Li: UI, screens, widgets, and navigation.</a:t>
            </a:r>
          </a:p>
        </p:txBody>
      </p:sp>
      <p:sp>
        <p:nvSpPr>
          <p:cNvPr id="5" name="">
            <a:extLst xmlns:a="http://schemas.openxmlformats.org/drawingml/2006/main">
              <a:ext uri="{FF2B5EF4-FFF2-40B4-BE49-F238E27FC236}">
                <a16:creationId xmlns:a16="http://schemas.microsoft.com/office/drawing/2014/main" id="{08DD0326-CFAA-4BC3-BA9C-D91476D9D31F}"/>
              </a:ext>
            </a:extLst>
          </p:cNvPr>
          <p:cNvSpPr>
            <a:spLocks xmlns:a="http://schemas.openxmlformats.org/drawingml/2006/main" noGrp="1"/>
          </p:cNvSpPr>
          <p:nvPr/>
        </p:nvSpPr>
        <p:spPr>
          <a:xfrm xmlns:a="http://schemas.openxmlformats.org/drawingml/2006/main">
            <a:off x="685800" y="2533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Seul An Kim: explain and identify her implemented features.</a:t>
            </a:r>
          </a:p>
        </p:txBody>
      </p:sp>
      <p:sp>
        <p:nvSpPr>
          <p:cNvPr id="6" name="">
            <a:extLst xmlns:a="http://schemas.openxmlformats.org/drawingml/2006/main">
              <a:ext uri="{FF2B5EF4-FFF2-40B4-BE49-F238E27FC236}">
                <a16:creationId xmlns:a16="http://schemas.microsoft.com/office/drawing/2014/main" id="{8A8DB2CE-3D57-4452-B558-ACC86103B027}"/>
              </a:ext>
            </a:extLst>
          </p:cNvPr>
          <p:cNvSpPr>
            <a:spLocks xmlns:a="http://schemas.openxmlformats.org/drawingml/2006/main" noGrp="1"/>
          </p:cNvSpPr>
          <p:nvPr/>
        </p:nvSpPr>
        <p:spPr>
          <a:xfrm xmlns:a="http://schemas.openxmlformats.org/drawingml/2006/main">
            <a:off x="685800" y="3486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Use feature-branch history and meaningful commit diffs as evidence.</a:t>
            </a:r>
          </a:p>
        </p:txBody>
      </p:sp>
      <p:sp>
        <p:nvSpPr>
          <p:cNvPr id="7" name="">
            <a:extLst xmlns:a="http://schemas.openxmlformats.org/drawingml/2006/main">
              <a:ext uri="{FF2B5EF4-FFF2-40B4-BE49-F238E27FC236}">
                <a16:creationId xmlns:a16="http://schemas.microsoft.com/office/drawing/2014/main" id="{962820C2-58CA-49E0-914C-2CD5A495B1F8}"/>
              </a:ext>
            </a:extLst>
          </p:cNvPr>
          <p:cNvSpPr>
            <a:spLocks xmlns:a="http://schemas.openxmlformats.org/drawingml/2006/main" noGrp="1"/>
          </p:cNvSpPr>
          <p:nvPr/>
        </p:nvSpPr>
        <p:spPr>
          <a:xfrm xmlns:a="http://schemas.openxmlformats.org/drawingml/2006/main">
            <a:off x="685800" y="4438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Both presenters: walk through each other’s code and discuss findings.</a:t>
            </a:r>
          </a:p>
        </p:txBody>
      </p:sp>
    </p:spTree>
    <p:extLst>
      <p:ext uri="{BB962C8B-B14F-4D97-AF65-F5344CB8AC3E}">
        <p14:creationId xmlns:p14="http://schemas.microsoft.com/office/powerpoint/2010/main" val="320224631"/>
      </p:ext>
    </p:extLst>
  </p:cSld>
  <p:transition spd="med">
    <p:fade/>
  </p:transition>
</p:sld>
</file>

<file path=ppt/slides/slide18.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23C192-4E4A-4D94-8E16-9C4985B89B61}"/>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72C"/>
                </a:solidFill>
                <a:latin typeface="Arial"/>
                <a:ea typeface="Arial"/>
                <a:cs typeface="Arial"/>
              </a:defRPr>
            </a:defPPr>
            <a:lvl1pPr>
              <a:defRPr sz="3150" b="1">
                <a:solidFill>
                  <a:srgbClr val="18372C"/>
                </a:solidFill>
                <a:latin typeface="Arial"/>
                <a:ea typeface="Arial"/>
                <a:cs typeface="Arial"/>
              </a:defRPr>
            </a:lvl1pPr>
            <a:lvl2pPr>
              <a:defRPr sz="3150" b="1">
                <a:solidFill>
                  <a:srgbClr val="18372C"/>
                </a:solidFill>
                <a:latin typeface="Arial"/>
                <a:ea typeface="Arial"/>
                <a:cs typeface="Arial"/>
              </a:defRPr>
            </a:lvl2pPr>
            <a:lvl3pPr>
              <a:defRPr sz="3150" b="1">
                <a:solidFill>
                  <a:srgbClr val="18372C"/>
                </a:solidFill>
                <a:latin typeface="Arial"/>
                <a:ea typeface="Arial"/>
                <a:cs typeface="Arial"/>
              </a:defRPr>
            </a:lvl3pPr>
            <a:lvl4pPr>
              <a:defRPr sz="3150" b="1">
                <a:solidFill>
                  <a:srgbClr val="18372C"/>
                </a:solidFill>
                <a:latin typeface="Arial"/>
                <a:ea typeface="Arial"/>
                <a:cs typeface="Arial"/>
              </a:defRPr>
            </a:lvl4pPr>
            <a:lvl5pPr>
              <a:defRPr sz="3150" b="1">
                <a:solidFill>
                  <a:srgbClr val="18372C"/>
                </a:solidFill>
                <a:latin typeface="Arial"/>
                <a:ea typeface="Arial"/>
                <a:cs typeface="Arial"/>
              </a:defRPr>
            </a:lvl5pPr>
            <a:lvl6pPr>
              <a:defRPr sz="3150" b="1">
                <a:solidFill>
                  <a:srgbClr val="18372C"/>
                </a:solidFill>
                <a:latin typeface="Arial"/>
                <a:ea typeface="Arial"/>
                <a:cs typeface="Arial"/>
              </a:defRPr>
            </a:lvl6pPr>
            <a:lvl7pPr>
              <a:defRPr sz="3150" b="1">
                <a:solidFill>
                  <a:srgbClr val="18372C"/>
                </a:solidFill>
                <a:latin typeface="Arial"/>
                <a:ea typeface="Arial"/>
                <a:cs typeface="Arial"/>
              </a:defRPr>
            </a:lvl7pPr>
            <a:lvl8pPr>
              <a:defRPr sz="3150" b="1">
                <a:solidFill>
                  <a:srgbClr val="18372C"/>
                </a:solidFill>
                <a:latin typeface="Arial"/>
                <a:ea typeface="Arial"/>
                <a:cs typeface="Arial"/>
              </a:defRPr>
            </a:lvl8pPr>
            <a:lvl9pPr>
              <a:defRPr sz="3150" b="1">
                <a:solidFill>
                  <a:srgbClr val="18372C"/>
                </a:solidFill>
                <a:latin typeface="Arial"/>
                <a:ea typeface="Arial"/>
                <a:cs typeface="Arial"/>
              </a:defRPr>
            </a:lvl9pPr>
          </a:lstStyle>
          <a:p xmlns:a="http://schemas.openxmlformats.org/drawingml/2006/main">
            <a:pPr>
              <a:defRPr sz="3150" b="1">
                <a:solidFill>
                  <a:srgbClr val="18372C"/>
                </a:solidFill>
                <a:latin typeface="Arial"/>
                <a:ea typeface="Arial"/>
                <a:cs typeface="Arial"/>
              </a:defRPr>
            </a:pPr>
            <a:r>
              <a:rPr sz="3150" b="1">
                <a:solidFill>
                  <a:srgbClr val="18372C"/>
                </a:solidFill>
                <a:latin typeface="Arial"/>
                <a:ea typeface="Arial"/>
                <a:cs typeface="Arial"/>
              </a:rPr>
              <a:t>Demonstration and current limitations</a:t>
            </a:r>
          </a:p>
        </p:txBody>
      </p:sp>
      <p:sp>
        <p:nvSpPr>
          <p:cNvPr id="2" name="">
            <a:extLst xmlns:a="http://schemas.openxmlformats.org/drawingml/2006/main">
              <a:ext uri="{FF2B5EF4-FFF2-40B4-BE49-F238E27FC236}">
                <a16:creationId xmlns:a16="http://schemas.microsoft.com/office/drawing/2014/main" id="{A0CF75DF-F8E8-454A-A6C4-A6DA864C6C74}"/>
              </a:ext>
            </a:extLst>
          </p:cNvPr>
          <p:cNvSpPr>
            <a:spLocks xmlns:a="http://schemas.openxmlformats.org/drawingml/2006/main" noGrp="1"/>
          </p:cNvSpPr>
          <p:nvPr/>
        </p:nvSpPr>
        <p:spPr>
          <a:xfrm xmlns:a="http://schemas.openxmlformats.org/drawingml/2006/main">
            <a:off x="609600" y="6381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Habit Mastery League</a:t>
            </a:r>
          </a:p>
        </p:txBody>
      </p:sp>
      <p:sp>
        <p:nvSpPr>
          <p:cNvPr id="3" name="">
            <a:extLst xmlns:a="http://schemas.openxmlformats.org/drawingml/2006/main">
              <a:ext uri="{FF2B5EF4-FFF2-40B4-BE49-F238E27FC236}">
                <a16:creationId xmlns:a16="http://schemas.microsoft.com/office/drawing/2014/main" id="{DD99BE45-193F-44F3-9CE5-F31777CD0258}"/>
              </a:ext>
            </a:extLst>
          </p:cNvPr>
          <p:cNvSpPr>
            <a:spLocks xmlns:a="http://schemas.openxmlformats.org/drawingml/2006/main" noGrp="1"/>
          </p:cNvSpPr>
          <p:nvPr/>
        </p:nvSpPr>
        <p:spPr>
          <a:xfrm xmlns:a="http://schemas.openxmlformats.org/drawingml/2006/main">
            <a:off x="109537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5D"/>
                </a:solidFill>
                <a:latin typeface="Arial"/>
                <a:ea typeface="Arial"/>
                <a:cs typeface="Arial"/>
              </a:defRPr>
            </a:defPPr>
            <a:lvl1pPr>
              <a:defRPr sz="1275" b="0">
                <a:solidFill>
                  <a:srgbClr val="53645D"/>
                </a:solidFill>
                <a:latin typeface="Arial"/>
                <a:ea typeface="Arial"/>
                <a:cs typeface="Arial"/>
              </a:defRPr>
            </a:lvl1pPr>
            <a:lvl2pPr>
              <a:defRPr sz="1275" b="0">
                <a:solidFill>
                  <a:srgbClr val="53645D"/>
                </a:solidFill>
                <a:latin typeface="Arial"/>
                <a:ea typeface="Arial"/>
                <a:cs typeface="Arial"/>
              </a:defRPr>
            </a:lvl2pPr>
            <a:lvl3pPr>
              <a:defRPr sz="1275" b="0">
                <a:solidFill>
                  <a:srgbClr val="53645D"/>
                </a:solidFill>
                <a:latin typeface="Arial"/>
                <a:ea typeface="Arial"/>
                <a:cs typeface="Arial"/>
              </a:defRPr>
            </a:lvl3pPr>
            <a:lvl4pPr>
              <a:defRPr sz="1275" b="0">
                <a:solidFill>
                  <a:srgbClr val="53645D"/>
                </a:solidFill>
                <a:latin typeface="Arial"/>
                <a:ea typeface="Arial"/>
                <a:cs typeface="Arial"/>
              </a:defRPr>
            </a:lvl4pPr>
            <a:lvl5pPr>
              <a:defRPr sz="1275" b="0">
                <a:solidFill>
                  <a:srgbClr val="53645D"/>
                </a:solidFill>
                <a:latin typeface="Arial"/>
                <a:ea typeface="Arial"/>
                <a:cs typeface="Arial"/>
              </a:defRPr>
            </a:lvl5pPr>
            <a:lvl6pPr>
              <a:defRPr sz="1275" b="0">
                <a:solidFill>
                  <a:srgbClr val="53645D"/>
                </a:solidFill>
                <a:latin typeface="Arial"/>
                <a:ea typeface="Arial"/>
                <a:cs typeface="Arial"/>
              </a:defRPr>
            </a:lvl6pPr>
            <a:lvl7pPr>
              <a:defRPr sz="1275" b="0">
                <a:solidFill>
                  <a:srgbClr val="53645D"/>
                </a:solidFill>
                <a:latin typeface="Arial"/>
                <a:ea typeface="Arial"/>
                <a:cs typeface="Arial"/>
              </a:defRPr>
            </a:lvl7pPr>
            <a:lvl8pPr>
              <a:defRPr sz="1275" b="0">
                <a:solidFill>
                  <a:srgbClr val="53645D"/>
                </a:solidFill>
                <a:latin typeface="Arial"/>
                <a:ea typeface="Arial"/>
                <a:cs typeface="Arial"/>
              </a:defRPr>
            </a:lvl8pPr>
            <a:lvl9pPr>
              <a:defRPr sz="1275" b="0">
                <a:solidFill>
                  <a:srgbClr val="53645D"/>
                </a:solidFill>
                <a:latin typeface="Arial"/>
                <a:ea typeface="Arial"/>
                <a:cs typeface="Arial"/>
              </a:defRPr>
            </a:lvl9pPr>
          </a:lstStyle>
          <a:p xmlns:a="http://schemas.openxmlformats.org/drawingml/2006/main">
            <a:pPr>
              <a:defRPr sz="1275" b="0">
                <a:solidFill>
                  <a:srgbClr val="53645D"/>
                </a:solidFill>
                <a:latin typeface="Arial"/>
                <a:ea typeface="Arial"/>
                <a:cs typeface="Arial"/>
              </a:defRPr>
            </a:pPr>
            <a:r>
              <a:rPr sz="1275" b="0">
                <a:solidFill>
                  <a:srgbClr val="53645D"/>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1C79724A-A579-460B-9C5E-BA5427B52E05}"/>
              </a:ext>
            </a:extLst>
          </p:cNvPr>
          <p:cNvSpPr>
            <a:spLocks xmlns:a="http://schemas.openxmlformats.org/drawingml/2006/main" noGrp="1"/>
          </p:cNvSpPr>
          <p:nvPr/>
        </p:nvSpPr>
        <p:spPr>
          <a:xfrm xmlns:a="http://schemas.openxmlformats.org/drawingml/2006/main">
            <a:off x="685800" y="1581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Demonstrate a habit, a check-in, history, and a helper suggestion.</a:t>
            </a:r>
          </a:p>
        </p:txBody>
      </p:sp>
      <p:sp>
        <p:nvSpPr>
          <p:cNvPr id="5" name="">
            <a:extLst xmlns:a="http://schemas.openxmlformats.org/drawingml/2006/main">
              <a:ext uri="{FF2B5EF4-FFF2-40B4-BE49-F238E27FC236}">
                <a16:creationId xmlns:a16="http://schemas.microsoft.com/office/drawing/2014/main" id="{E7E8F0A9-82C7-43F9-94EE-5C33D51B41D7}"/>
              </a:ext>
            </a:extLst>
          </p:cNvPr>
          <p:cNvSpPr>
            <a:spLocks xmlns:a="http://schemas.openxmlformats.org/drawingml/2006/main" noGrp="1"/>
          </p:cNvSpPr>
          <p:nvPr/>
        </p:nvSpPr>
        <p:spPr>
          <a:xfrm xmlns:a="http://schemas.openxmlformats.org/drawingml/2006/main">
            <a:off x="685800" y="2533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Verified: 11 model/helper checks passed against controlled inputs.</a:t>
            </a:r>
          </a:p>
        </p:txBody>
      </p:sp>
      <p:sp>
        <p:nvSpPr>
          <p:cNvPr id="6" name="">
            <a:extLst xmlns:a="http://schemas.openxmlformats.org/drawingml/2006/main">
              <a:ext uri="{FF2B5EF4-FFF2-40B4-BE49-F238E27FC236}">
                <a16:creationId xmlns:a16="http://schemas.microsoft.com/office/drawing/2014/main" id="{328F3AC7-0A2F-48A4-B285-31A8DFBF68E0}"/>
              </a:ext>
            </a:extLst>
          </p:cNvPr>
          <p:cNvSpPr>
            <a:spLocks xmlns:a="http://schemas.openxmlformats.org/drawingml/2006/main" noGrp="1"/>
          </p:cNvSpPr>
          <p:nvPr/>
        </p:nvSpPr>
        <p:spPr>
          <a:xfrm xmlns:a="http://schemas.openxmlformats.org/drawingml/2006/main">
            <a:off x="685800" y="3486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Still pending: device acceptance, offline relaunch, and lifecycle integration.</a:t>
            </a:r>
          </a:p>
        </p:txBody>
      </p:sp>
      <p:sp>
        <p:nvSpPr>
          <p:cNvPr id="7" name="">
            <a:extLst xmlns:a="http://schemas.openxmlformats.org/drawingml/2006/main">
              <a:ext uri="{FF2B5EF4-FFF2-40B4-BE49-F238E27FC236}">
                <a16:creationId xmlns:a16="http://schemas.microsoft.com/office/drawing/2014/main" id="{200975EB-3A52-4E0C-AE6B-28830507521C}"/>
              </a:ext>
            </a:extLst>
          </p:cNvPr>
          <p:cNvSpPr>
            <a:spLocks xmlns:a="http://schemas.openxmlformats.org/drawingml/2006/main" noGrp="1"/>
          </p:cNvSpPr>
          <p:nvPr/>
        </p:nvSpPr>
        <p:spPr>
          <a:xfrm xmlns:a="http://schemas.openxmlformats.org/drawingml/2006/main">
            <a:off x="685800" y="4438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72C"/>
                </a:solidFill>
                <a:latin typeface="Arial"/>
                <a:ea typeface="Arial"/>
                <a:cs typeface="Arial"/>
              </a:defRPr>
            </a:defPPr>
            <a:lvl1pPr>
              <a:defRPr sz="2175" b="0">
                <a:solidFill>
                  <a:srgbClr val="18372C"/>
                </a:solidFill>
                <a:latin typeface="Arial"/>
                <a:ea typeface="Arial"/>
                <a:cs typeface="Arial"/>
              </a:defRPr>
            </a:lvl1pPr>
            <a:lvl2pPr>
              <a:defRPr sz="2175" b="0">
                <a:solidFill>
                  <a:srgbClr val="18372C"/>
                </a:solidFill>
                <a:latin typeface="Arial"/>
                <a:ea typeface="Arial"/>
                <a:cs typeface="Arial"/>
              </a:defRPr>
            </a:lvl2pPr>
            <a:lvl3pPr>
              <a:defRPr sz="2175" b="0">
                <a:solidFill>
                  <a:srgbClr val="18372C"/>
                </a:solidFill>
                <a:latin typeface="Arial"/>
                <a:ea typeface="Arial"/>
                <a:cs typeface="Arial"/>
              </a:defRPr>
            </a:lvl3pPr>
            <a:lvl4pPr>
              <a:defRPr sz="2175" b="0">
                <a:solidFill>
                  <a:srgbClr val="18372C"/>
                </a:solidFill>
                <a:latin typeface="Arial"/>
                <a:ea typeface="Arial"/>
                <a:cs typeface="Arial"/>
              </a:defRPr>
            </a:lvl4pPr>
            <a:lvl5pPr>
              <a:defRPr sz="2175" b="0">
                <a:solidFill>
                  <a:srgbClr val="18372C"/>
                </a:solidFill>
                <a:latin typeface="Arial"/>
                <a:ea typeface="Arial"/>
                <a:cs typeface="Arial"/>
              </a:defRPr>
            </a:lvl5pPr>
            <a:lvl6pPr>
              <a:defRPr sz="2175" b="0">
                <a:solidFill>
                  <a:srgbClr val="18372C"/>
                </a:solidFill>
                <a:latin typeface="Arial"/>
                <a:ea typeface="Arial"/>
                <a:cs typeface="Arial"/>
              </a:defRPr>
            </a:lvl6pPr>
            <a:lvl7pPr>
              <a:defRPr sz="2175" b="0">
                <a:solidFill>
                  <a:srgbClr val="18372C"/>
                </a:solidFill>
                <a:latin typeface="Arial"/>
                <a:ea typeface="Arial"/>
                <a:cs typeface="Arial"/>
              </a:defRPr>
            </a:lvl7pPr>
            <a:lvl8pPr>
              <a:defRPr sz="2175" b="0">
                <a:solidFill>
                  <a:srgbClr val="18372C"/>
                </a:solidFill>
                <a:latin typeface="Arial"/>
                <a:ea typeface="Arial"/>
                <a:cs typeface="Arial"/>
              </a:defRPr>
            </a:lvl8pPr>
            <a:lvl9pPr>
              <a:defRPr sz="2175" b="0">
                <a:solidFill>
                  <a:srgbClr val="18372C"/>
                </a:solidFill>
                <a:latin typeface="Arial"/>
                <a:ea typeface="Arial"/>
                <a:cs typeface="Arial"/>
              </a:defRPr>
            </a:lvl9pPr>
          </a:lstStyle>
          <a:p xmlns:a="http://schemas.openxmlformats.org/drawingml/2006/main">
            <a:pPr>
              <a:defRPr sz="2175" b="0">
                <a:solidFill>
                  <a:srgbClr val="18372C"/>
                </a:solidFill>
                <a:latin typeface="Arial"/>
                <a:ea typeface="Arial"/>
                <a:cs typeface="Arial"/>
              </a:defRPr>
            </a:pPr>
            <a:r>
              <a:rPr sz="2175" b="0">
                <a:solidFill>
                  <a:srgbClr val="18372C"/>
                </a:solidFill>
                <a:latin typeface="Arial"/>
                <a:ea typeface="Arial"/>
                <a:cs typeface="Arial"/>
              </a:rPr>
              <a:t>Known limitation: saved default target needs editor integration.</a:t>
            </a:r>
          </a:p>
        </p:txBody>
      </p:sp>
    </p:spTree>
    <p:extLst>
      <p:ext uri="{BB962C8B-B14F-4D97-AF65-F5344CB8AC3E}">
        <p14:creationId xmlns:p14="http://schemas.microsoft.com/office/powerpoint/2010/main" val="1007830048"/>
      </p:ext>
    </p:extLst>
  </p:cSld>
  <p:transition spd="med">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2026-11-01T02:59:26.8440000Z</dcterms:created>
  <dcterms:modified xsi:type="dcterms:W3CDTF">2026-11-01T02:59:26.8440000Z</dcterms:modified>
</coreProperties>
</file>